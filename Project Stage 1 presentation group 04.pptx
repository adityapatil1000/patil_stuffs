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63" r:id="rId2"/>
    <p:sldId id="264" r:id="rId3"/>
    <p:sldId id="265" r:id="rId4"/>
    <p:sldId id="266" r:id="rId5"/>
    <p:sldId id="267" r:id="rId6"/>
    <p:sldId id="268" r:id="rId7"/>
    <p:sldId id="287" r:id="rId8"/>
    <p:sldId id="269" r:id="rId9"/>
    <p:sldId id="270" r:id="rId10"/>
    <p:sldId id="289" r:id="rId11"/>
    <p:sldId id="271" r:id="rId12"/>
    <p:sldId id="288" r:id="rId13"/>
    <p:sldId id="272" r:id="rId14"/>
    <p:sldId id="290" r:id="rId15"/>
    <p:sldId id="274" r:id="rId16"/>
    <p:sldId id="285" r:id="rId17"/>
    <p:sldId id="286" r:id="rId18"/>
    <p:sldId id="284" r:id="rId19"/>
    <p:sldId id="275" r:id="rId20"/>
    <p:sldId id="276" r:id="rId21"/>
    <p:sldId id="277" r:id="rId22"/>
    <p:sldId id="282"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p:scale>
          <a:sx n="66" d="100"/>
          <a:sy n="66" d="100"/>
        </p:scale>
        <p:origin x="1320" y="4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7DB812-A877-4432-BA67-5D726F76E0C5}" type="datetimeFigureOut">
              <a:rPr lang="en-IN" smtClean="0"/>
              <a:t>22-11-2023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FC029A-35D0-4EA3-87B0-A7CB99FC50BC}" type="slidenum">
              <a:rPr lang="en-IN" smtClean="0"/>
              <a:t>‹#›</a:t>
            </a:fld>
            <a:endParaRPr lang="en-IN"/>
          </a:p>
        </p:txBody>
      </p:sp>
    </p:spTree>
    <p:extLst>
      <p:ext uri="{BB962C8B-B14F-4D97-AF65-F5344CB8AC3E}">
        <p14:creationId xmlns:p14="http://schemas.microsoft.com/office/powerpoint/2010/main" val="338893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F424-3DAE-F623-A20E-BFE66DD155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DFE372A-73A0-38D2-11F1-558B51C63F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F8F23E-4FE3-DBCC-F33F-823481E4D459}"/>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960EE5B-75D5-CBF7-6B09-43422FA282CE}"/>
              </a:ext>
            </a:extLst>
          </p:cNvPr>
          <p:cNvSpPr>
            <a:spLocks noGrp="1"/>
          </p:cNvSpPr>
          <p:nvPr>
            <p:ph type="ftr" sz="quarter" idx="11"/>
          </p:nvPr>
        </p:nvSpPr>
        <p:spPr/>
        <p:txBody>
          <a:bodyPr/>
          <a:lstStyle/>
          <a:p>
            <a:r>
              <a:rPr lang="en-IN"/>
              <a:t>Meta-Tourism</a:t>
            </a:r>
          </a:p>
        </p:txBody>
      </p:sp>
      <p:sp>
        <p:nvSpPr>
          <p:cNvPr id="6" name="Slide Number Placeholder 5">
            <a:extLst>
              <a:ext uri="{FF2B5EF4-FFF2-40B4-BE49-F238E27FC236}">
                <a16:creationId xmlns:a16="http://schemas.microsoft.com/office/drawing/2014/main" id="{99E7EE4C-C085-0B86-671C-EE904FF5EEB9}"/>
              </a:ext>
            </a:extLst>
          </p:cNvPr>
          <p:cNvSpPr>
            <a:spLocks noGrp="1"/>
          </p:cNvSpPr>
          <p:nvPr>
            <p:ph type="sldNum" sz="quarter" idx="12"/>
          </p:nvPr>
        </p:nvSpPr>
        <p:spPr/>
        <p:txBody>
          <a:bodyPr/>
          <a:lstStyle/>
          <a:p>
            <a:fld id="{43321D51-0D33-47F4-8293-F27514F5326D}" type="slidenum">
              <a:rPr lang="en-IN" smtClean="0"/>
              <a:t>‹#›</a:t>
            </a:fld>
            <a:endParaRPr lang="en-IN"/>
          </a:p>
        </p:txBody>
      </p:sp>
    </p:spTree>
    <p:extLst>
      <p:ext uri="{BB962C8B-B14F-4D97-AF65-F5344CB8AC3E}">
        <p14:creationId xmlns:p14="http://schemas.microsoft.com/office/powerpoint/2010/main" val="316590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B5A57-F710-AE6F-2714-AA3E871909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E4B82C-3AF6-441C-EF96-6A3F9E85ED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69848E-2E86-FE45-6294-AE728D4937E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9AA4315-0E9B-0E67-0C4D-55A476D927A6}"/>
              </a:ext>
            </a:extLst>
          </p:cNvPr>
          <p:cNvSpPr>
            <a:spLocks noGrp="1"/>
          </p:cNvSpPr>
          <p:nvPr>
            <p:ph type="ftr" sz="quarter" idx="11"/>
          </p:nvPr>
        </p:nvSpPr>
        <p:spPr/>
        <p:txBody>
          <a:bodyPr/>
          <a:lstStyle/>
          <a:p>
            <a:r>
              <a:rPr lang="en-IN"/>
              <a:t>Meta-Tourism</a:t>
            </a:r>
          </a:p>
        </p:txBody>
      </p:sp>
      <p:sp>
        <p:nvSpPr>
          <p:cNvPr id="6" name="Slide Number Placeholder 5">
            <a:extLst>
              <a:ext uri="{FF2B5EF4-FFF2-40B4-BE49-F238E27FC236}">
                <a16:creationId xmlns:a16="http://schemas.microsoft.com/office/drawing/2014/main" id="{D81E2F77-35CA-551C-C330-DB617742622A}"/>
              </a:ext>
            </a:extLst>
          </p:cNvPr>
          <p:cNvSpPr>
            <a:spLocks noGrp="1"/>
          </p:cNvSpPr>
          <p:nvPr>
            <p:ph type="sldNum" sz="quarter" idx="12"/>
          </p:nvPr>
        </p:nvSpPr>
        <p:spPr/>
        <p:txBody>
          <a:bodyPr/>
          <a:lstStyle/>
          <a:p>
            <a:fld id="{43321D51-0D33-47F4-8293-F27514F5326D}" type="slidenum">
              <a:rPr lang="en-IN" smtClean="0"/>
              <a:t>‹#›</a:t>
            </a:fld>
            <a:endParaRPr lang="en-IN"/>
          </a:p>
        </p:txBody>
      </p:sp>
    </p:spTree>
    <p:extLst>
      <p:ext uri="{BB962C8B-B14F-4D97-AF65-F5344CB8AC3E}">
        <p14:creationId xmlns:p14="http://schemas.microsoft.com/office/powerpoint/2010/main" val="2246467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D951B-2951-3FCE-73FC-5E0C785989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C611F9-1D23-AF39-F092-B0255AE73C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D7F52E-8310-11F1-BDCA-73B3ED915569}"/>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AC88AC1-88D3-6C51-B635-A49F6B0C3C52}"/>
              </a:ext>
            </a:extLst>
          </p:cNvPr>
          <p:cNvSpPr>
            <a:spLocks noGrp="1"/>
          </p:cNvSpPr>
          <p:nvPr>
            <p:ph type="ftr" sz="quarter" idx="11"/>
          </p:nvPr>
        </p:nvSpPr>
        <p:spPr/>
        <p:txBody>
          <a:bodyPr/>
          <a:lstStyle/>
          <a:p>
            <a:r>
              <a:rPr lang="en-IN"/>
              <a:t>Meta-Tourism</a:t>
            </a:r>
          </a:p>
        </p:txBody>
      </p:sp>
      <p:sp>
        <p:nvSpPr>
          <p:cNvPr id="6" name="Slide Number Placeholder 5">
            <a:extLst>
              <a:ext uri="{FF2B5EF4-FFF2-40B4-BE49-F238E27FC236}">
                <a16:creationId xmlns:a16="http://schemas.microsoft.com/office/drawing/2014/main" id="{BA4E2957-0D12-7387-BD97-82F4AA6D2347}"/>
              </a:ext>
            </a:extLst>
          </p:cNvPr>
          <p:cNvSpPr>
            <a:spLocks noGrp="1"/>
          </p:cNvSpPr>
          <p:nvPr>
            <p:ph type="sldNum" sz="quarter" idx="12"/>
          </p:nvPr>
        </p:nvSpPr>
        <p:spPr/>
        <p:txBody>
          <a:bodyPr/>
          <a:lstStyle/>
          <a:p>
            <a:fld id="{43321D51-0D33-47F4-8293-F27514F5326D}" type="slidenum">
              <a:rPr lang="en-IN" smtClean="0"/>
              <a:t>‹#›</a:t>
            </a:fld>
            <a:endParaRPr lang="en-IN"/>
          </a:p>
        </p:txBody>
      </p:sp>
    </p:spTree>
    <p:extLst>
      <p:ext uri="{BB962C8B-B14F-4D97-AF65-F5344CB8AC3E}">
        <p14:creationId xmlns:p14="http://schemas.microsoft.com/office/powerpoint/2010/main" val="315925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6791B-AACB-E5A6-01E5-D149A26795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A97A3A-A0FF-D971-DC3A-67BE122484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E7958A2-98D7-B213-185A-72B7A998E4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5A88E17-7D5F-F007-FBBC-42CCCAE9843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02C1B74-38CE-0CA5-863C-044C658FA771}"/>
              </a:ext>
            </a:extLst>
          </p:cNvPr>
          <p:cNvSpPr>
            <a:spLocks noGrp="1"/>
          </p:cNvSpPr>
          <p:nvPr>
            <p:ph type="ftr" sz="quarter" idx="11"/>
          </p:nvPr>
        </p:nvSpPr>
        <p:spPr/>
        <p:txBody>
          <a:bodyPr/>
          <a:lstStyle/>
          <a:p>
            <a:r>
              <a:rPr lang="en-IN"/>
              <a:t>Meta-Tourism</a:t>
            </a:r>
          </a:p>
        </p:txBody>
      </p:sp>
      <p:sp>
        <p:nvSpPr>
          <p:cNvPr id="7" name="Slide Number Placeholder 6">
            <a:extLst>
              <a:ext uri="{FF2B5EF4-FFF2-40B4-BE49-F238E27FC236}">
                <a16:creationId xmlns:a16="http://schemas.microsoft.com/office/drawing/2014/main" id="{C9A8A7FA-A41E-9C3B-AE04-D74E1C5010B8}"/>
              </a:ext>
            </a:extLst>
          </p:cNvPr>
          <p:cNvSpPr>
            <a:spLocks noGrp="1"/>
          </p:cNvSpPr>
          <p:nvPr>
            <p:ph type="sldNum" sz="quarter" idx="12"/>
          </p:nvPr>
        </p:nvSpPr>
        <p:spPr/>
        <p:txBody>
          <a:bodyPr/>
          <a:lstStyle/>
          <a:p>
            <a:fld id="{43321D51-0D33-47F4-8293-F27514F5326D}" type="slidenum">
              <a:rPr lang="en-IN" smtClean="0"/>
              <a:t>‹#›</a:t>
            </a:fld>
            <a:endParaRPr lang="en-IN"/>
          </a:p>
        </p:txBody>
      </p:sp>
    </p:spTree>
    <p:extLst>
      <p:ext uri="{BB962C8B-B14F-4D97-AF65-F5344CB8AC3E}">
        <p14:creationId xmlns:p14="http://schemas.microsoft.com/office/powerpoint/2010/main" val="3627685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D1ACA-7BF0-6EDD-4C12-FE11106E46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635FE2-6073-0F42-9DD1-3040ADDBDF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9404E3-0698-9617-FE45-6B415DF051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767320-DDE5-5DDA-78AF-7F042E2F7F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C729DC-5793-1F3F-2C93-EA05DBA900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6ACA33D-8DFC-A24F-9217-8821492DE45E}"/>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7BE06358-A3D2-6DCC-AC4F-515D45B44D50}"/>
              </a:ext>
            </a:extLst>
          </p:cNvPr>
          <p:cNvSpPr>
            <a:spLocks noGrp="1"/>
          </p:cNvSpPr>
          <p:nvPr>
            <p:ph type="ftr" sz="quarter" idx="11"/>
          </p:nvPr>
        </p:nvSpPr>
        <p:spPr/>
        <p:txBody>
          <a:bodyPr/>
          <a:lstStyle/>
          <a:p>
            <a:r>
              <a:rPr lang="en-IN"/>
              <a:t>Meta-Tourism</a:t>
            </a:r>
          </a:p>
        </p:txBody>
      </p:sp>
      <p:sp>
        <p:nvSpPr>
          <p:cNvPr id="9" name="Slide Number Placeholder 8">
            <a:extLst>
              <a:ext uri="{FF2B5EF4-FFF2-40B4-BE49-F238E27FC236}">
                <a16:creationId xmlns:a16="http://schemas.microsoft.com/office/drawing/2014/main" id="{5C25AA2C-A603-FB63-7938-019D200106AD}"/>
              </a:ext>
            </a:extLst>
          </p:cNvPr>
          <p:cNvSpPr>
            <a:spLocks noGrp="1"/>
          </p:cNvSpPr>
          <p:nvPr>
            <p:ph type="sldNum" sz="quarter" idx="12"/>
          </p:nvPr>
        </p:nvSpPr>
        <p:spPr/>
        <p:txBody>
          <a:bodyPr/>
          <a:lstStyle/>
          <a:p>
            <a:fld id="{43321D51-0D33-47F4-8293-F27514F5326D}" type="slidenum">
              <a:rPr lang="en-IN" smtClean="0"/>
              <a:t>‹#›</a:t>
            </a:fld>
            <a:endParaRPr lang="en-IN"/>
          </a:p>
        </p:txBody>
      </p:sp>
    </p:spTree>
    <p:extLst>
      <p:ext uri="{BB962C8B-B14F-4D97-AF65-F5344CB8AC3E}">
        <p14:creationId xmlns:p14="http://schemas.microsoft.com/office/powerpoint/2010/main" val="677720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958E-563F-FD9E-7E5D-3EFC7E6FAB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35CC1EE-A771-9148-A7E1-127122EAD92B}"/>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F7AB3D80-01A0-1EB6-F734-77EA0B5106BE}"/>
              </a:ext>
            </a:extLst>
          </p:cNvPr>
          <p:cNvSpPr>
            <a:spLocks noGrp="1"/>
          </p:cNvSpPr>
          <p:nvPr>
            <p:ph type="ftr" sz="quarter" idx="11"/>
          </p:nvPr>
        </p:nvSpPr>
        <p:spPr/>
        <p:txBody>
          <a:bodyPr/>
          <a:lstStyle/>
          <a:p>
            <a:r>
              <a:rPr lang="en-IN"/>
              <a:t>Meta-Tourism</a:t>
            </a:r>
          </a:p>
        </p:txBody>
      </p:sp>
      <p:sp>
        <p:nvSpPr>
          <p:cNvPr id="5" name="Slide Number Placeholder 4">
            <a:extLst>
              <a:ext uri="{FF2B5EF4-FFF2-40B4-BE49-F238E27FC236}">
                <a16:creationId xmlns:a16="http://schemas.microsoft.com/office/drawing/2014/main" id="{648E8889-6D62-0AC9-AB5F-A87D4D1FEAF0}"/>
              </a:ext>
            </a:extLst>
          </p:cNvPr>
          <p:cNvSpPr>
            <a:spLocks noGrp="1"/>
          </p:cNvSpPr>
          <p:nvPr>
            <p:ph type="sldNum" sz="quarter" idx="12"/>
          </p:nvPr>
        </p:nvSpPr>
        <p:spPr/>
        <p:txBody>
          <a:bodyPr/>
          <a:lstStyle/>
          <a:p>
            <a:fld id="{43321D51-0D33-47F4-8293-F27514F5326D}" type="slidenum">
              <a:rPr lang="en-IN" smtClean="0"/>
              <a:t>‹#›</a:t>
            </a:fld>
            <a:endParaRPr lang="en-IN"/>
          </a:p>
        </p:txBody>
      </p:sp>
    </p:spTree>
    <p:extLst>
      <p:ext uri="{BB962C8B-B14F-4D97-AF65-F5344CB8AC3E}">
        <p14:creationId xmlns:p14="http://schemas.microsoft.com/office/powerpoint/2010/main" val="1204108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7E2B0C-CEF2-F45F-7C41-6289897880D5}"/>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B3DD0AFD-0CA0-7AE7-B461-468AB921A0EF}"/>
              </a:ext>
            </a:extLst>
          </p:cNvPr>
          <p:cNvSpPr>
            <a:spLocks noGrp="1"/>
          </p:cNvSpPr>
          <p:nvPr>
            <p:ph type="ftr" sz="quarter" idx="11"/>
          </p:nvPr>
        </p:nvSpPr>
        <p:spPr/>
        <p:txBody>
          <a:bodyPr/>
          <a:lstStyle/>
          <a:p>
            <a:r>
              <a:rPr lang="en-IN"/>
              <a:t>Meta-Tourism</a:t>
            </a:r>
          </a:p>
        </p:txBody>
      </p:sp>
      <p:sp>
        <p:nvSpPr>
          <p:cNvPr id="4" name="Slide Number Placeholder 3">
            <a:extLst>
              <a:ext uri="{FF2B5EF4-FFF2-40B4-BE49-F238E27FC236}">
                <a16:creationId xmlns:a16="http://schemas.microsoft.com/office/drawing/2014/main" id="{C9AEF27D-1DCE-B8E1-05E8-CCEBD5D6C385}"/>
              </a:ext>
            </a:extLst>
          </p:cNvPr>
          <p:cNvSpPr>
            <a:spLocks noGrp="1"/>
          </p:cNvSpPr>
          <p:nvPr>
            <p:ph type="sldNum" sz="quarter" idx="12"/>
          </p:nvPr>
        </p:nvSpPr>
        <p:spPr/>
        <p:txBody>
          <a:bodyPr/>
          <a:lstStyle/>
          <a:p>
            <a:fld id="{43321D51-0D33-47F4-8293-F27514F5326D}" type="slidenum">
              <a:rPr lang="en-IN" smtClean="0"/>
              <a:t>‹#›</a:t>
            </a:fld>
            <a:endParaRPr lang="en-IN"/>
          </a:p>
        </p:txBody>
      </p:sp>
    </p:spTree>
    <p:extLst>
      <p:ext uri="{BB962C8B-B14F-4D97-AF65-F5344CB8AC3E}">
        <p14:creationId xmlns:p14="http://schemas.microsoft.com/office/powerpoint/2010/main" val="3883596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E9D81-5407-86B9-6BFE-928629F7CE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185636-EBDB-88B1-B69B-1E294F5BDF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D5CF4F8-515F-1ECB-4207-2F197466E3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0AB6F0-153A-233D-9314-EA65E2438FD9}"/>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510424B9-FE04-F347-DE7B-4FC30EB5C91E}"/>
              </a:ext>
            </a:extLst>
          </p:cNvPr>
          <p:cNvSpPr>
            <a:spLocks noGrp="1"/>
          </p:cNvSpPr>
          <p:nvPr>
            <p:ph type="ftr" sz="quarter" idx="11"/>
          </p:nvPr>
        </p:nvSpPr>
        <p:spPr/>
        <p:txBody>
          <a:bodyPr/>
          <a:lstStyle/>
          <a:p>
            <a:r>
              <a:rPr lang="en-IN"/>
              <a:t>Meta-Tourism</a:t>
            </a:r>
          </a:p>
        </p:txBody>
      </p:sp>
      <p:sp>
        <p:nvSpPr>
          <p:cNvPr id="7" name="Slide Number Placeholder 6">
            <a:extLst>
              <a:ext uri="{FF2B5EF4-FFF2-40B4-BE49-F238E27FC236}">
                <a16:creationId xmlns:a16="http://schemas.microsoft.com/office/drawing/2014/main" id="{BD509D25-C161-3889-4F26-2709F3C2FD52}"/>
              </a:ext>
            </a:extLst>
          </p:cNvPr>
          <p:cNvSpPr>
            <a:spLocks noGrp="1"/>
          </p:cNvSpPr>
          <p:nvPr>
            <p:ph type="sldNum" sz="quarter" idx="12"/>
          </p:nvPr>
        </p:nvSpPr>
        <p:spPr/>
        <p:txBody>
          <a:bodyPr/>
          <a:lstStyle/>
          <a:p>
            <a:fld id="{43321D51-0D33-47F4-8293-F27514F5326D}" type="slidenum">
              <a:rPr lang="en-IN" smtClean="0"/>
              <a:t>‹#›</a:t>
            </a:fld>
            <a:endParaRPr lang="en-IN"/>
          </a:p>
        </p:txBody>
      </p:sp>
    </p:spTree>
    <p:extLst>
      <p:ext uri="{BB962C8B-B14F-4D97-AF65-F5344CB8AC3E}">
        <p14:creationId xmlns:p14="http://schemas.microsoft.com/office/powerpoint/2010/main" val="3488001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EEE8B-665F-A920-B8EE-9F168D2C11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12F1E1-09C8-F01E-497E-163116CF88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ECD66BC-9A72-3376-8510-729F2EC600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D74DB1-F06F-9DB7-776D-611846AF1696}"/>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47697EB3-9D80-FC05-AEDA-419A898B6CA9}"/>
              </a:ext>
            </a:extLst>
          </p:cNvPr>
          <p:cNvSpPr>
            <a:spLocks noGrp="1"/>
          </p:cNvSpPr>
          <p:nvPr>
            <p:ph type="ftr" sz="quarter" idx="11"/>
          </p:nvPr>
        </p:nvSpPr>
        <p:spPr/>
        <p:txBody>
          <a:bodyPr/>
          <a:lstStyle/>
          <a:p>
            <a:r>
              <a:rPr lang="en-IN"/>
              <a:t>Meta-Tourism</a:t>
            </a:r>
          </a:p>
        </p:txBody>
      </p:sp>
      <p:sp>
        <p:nvSpPr>
          <p:cNvPr id="7" name="Slide Number Placeholder 6">
            <a:extLst>
              <a:ext uri="{FF2B5EF4-FFF2-40B4-BE49-F238E27FC236}">
                <a16:creationId xmlns:a16="http://schemas.microsoft.com/office/drawing/2014/main" id="{0A22FFA7-902E-05D6-BA41-1353687C6AEE}"/>
              </a:ext>
            </a:extLst>
          </p:cNvPr>
          <p:cNvSpPr>
            <a:spLocks noGrp="1"/>
          </p:cNvSpPr>
          <p:nvPr>
            <p:ph type="sldNum" sz="quarter" idx="12"/>
          </p:nvPr>
        </p:nvSpPr>
        <p:spPr/>
        <p:txBody>
          <a:bodyPr/>
          <a:lstStyle/>
          <a:p>
            <a:fld id="{43321D51-0D33-47F4-8293-F27514F5326D}" type="slidenum">
              <a:rPr lang="en-IN" smtClean="0"/>
              <a:t>‹#›</a:t>
            </a:fld>
            <a:endParaRPr lang="en-IN"/>
          </a:p>
        </p:txBody>
      </p:sp>
    </p:spTree>
    <p:extLst>
      <p:ext uri="{BB962C8B-B14F-4D97-AF65-F5344CB8AC3E}">
        <p14:creationId xmlns:p14="http://schemas.microsoft.com/office/powerpoint/2010/main" val="4187377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A5848-1D33-1590-73CF-DED28683A0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3D34E1-DE3E-9335-450F-3B4465A15A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572746-CA53-35D4-0651-B4EE7BF305F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3D1405C9-7997-A79D-5F98-34F155A5883A}"/>
              </a:ext>
            </a:extLst>
          </p:cNvPr>
          <p:cNvSpPr>
            <a:spLocks noGrp="1"/>
          </p:cNvSpPr>
          <p:nvPr>
            <p:ph type="ftr" sz="quarter" idx="11"/>
          </p:nvPr>
        </p:nvSpPr>
        <p:spPr/>
        <p:txBody>
          <a:bodyPr/>
          <a:lstStyle/>
          <a:p>
            <a:r>
              <a:rPr lang="en-IN"/>
              <a:t>Meta-Tourism</a:t>
            </a:r>
          </a:p>
        </p:txBody>
      </p:sp>
      <p:sp>
        <p:nvSpPr>
          <p:cNvPr id="6" name="Slide Number Placeholder 5">
            <a:extLst>
              <a:ext uri="{FF2B5EF4-FFF2-40B4-BE49-F238E27FC236}">
                <a16:creationId xmlns:a16="http://schemas.microsoft.com/office/drawing/2014/main" id="{CC74E673-0AB3-F492-33A0-4318D0A359BB}"/>
              </a:ext>
            </a:extLst>
          </p:cNvPr>
          <p:cNvSpPr>
            <a:spLocks noGrp="1"/>
          </p:cNvSpPr>
          <p:nvPr>
            <p:ph type="sldNum" sz="quarter" idx="12"/>
          </p:nvPr>
        </p:nvSpPr>
        <p:spPr/>
        <p:txBody>
          <a:bodyPr/>
          <a:lstStyle/>
          <a:p>
            <a:fld id="{43321D51-0D33-47F4-8293-F27514F5326D}" type="slidenum">
              <a:rPr lang="en-IN" smtClean="0"/>
              <a:t>‹#›</a:t>
            </a:fld>
            <a:endParaRPr lang="en-IN"/>
          </a:p>
        </p:txBody>
      </p:sp>
    </p:spTree>
    <p:extLst>
      <p:ext uri="{BB962C8B-B14F-4D97-AF65-F5344CB8AC3E}">
        <p14:creationId xmlns:p14="http://schemas.microsoft.com/office/powerpoint/2010/main" val="871738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90666C-CC48-3C47-B0FC-193F010497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B84AC3-0ABD-E54E-9A37-44D4B40A1B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8862B5-66E0-31BE-120B-D00C050E716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947B4A0-5B95-9E13-31A1-7D0B83BDA08D}"/>
              </a:ext>
            </a:extLst>
          </p:cNvPr>
          <p:cNvSpPr>
            <a:spLocks noGrp="1"/>
          </p:cNvSpPr>
          <p:nvPr>
            <p:ph type="ftr" sz="quarter" idx="11"/>
          </p:nvPr>
        </p:nvSpPr>
        <p:spPr/>
        <p:txBody>
          <a:bodyPr/>
          <a:lstStyle/>
          <a:p>
            <a:r>
              <a:rPr lang="en-IN"/>
              <a:t>Meta-Tourism</a:t>
            </a:r>
          </a:p>
        </p:txBody>
      </p:sp>
      <p:sp>
        <p:nvSpPr>
          <p:cNvPr id="6" name="Slide Number Placeholder 5">
            <a:extLst>
              <a:ext uri="{FF2B5EF4-FFF2-40B4-BE49-F238E27FC236}">
                <a16:creationId xmlns:a16="http://schemas.microsoft.com/office/drawing/2014/main" id="{07E555C5-7B2B-381B-D6C5-5D550B9CEC28}"/>
              </a:ext>
            </a:extLst>
          </p:cNvPr>
          <p:cNvSpPr>
            <a:spLocks noGrp="1"/>
          </p:cNvSpPr>
          <p:nvPr>
            <p:ph type="sldNum" sz="quarter" idx="12"/>
          </p:nvPr>
        </p:nvSpPr>
        <p:spPr/>
        <p:txBody>
          <a:bodyPr/>
          <a:lstStyle/>
          <a:p>
            <a:fld id="{43321D51-0D33-47F4-8293-F27514F5326D}" type="slidenum">
              <a:rPr lang="en-IN" smtClean="0"/>
              <a:t>‹#›</a:t>
            </a:fld>
            <a:endParaRPr lang="en-IN"/>
          </a:p>
        </p:txBody>
      </p:sp>
    </p:spTree>
    <p:extLst>
      <p:ext uri="{BB962C8B-B14F-4D97-AF65-F5344CB8AC3E}">
        <p14:creationId xmlns:p14="http://schemas.microsoft.com/office/powerpoint/2010/main" val="3219798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556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B204DA-0063-6A4E-F0E6-06A5A785D2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444D00-D1D8-6651-510E-59BB5761B2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544B9E-8D9D-7819-B993-3648D714F6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6C5925AB-198E-740B-AC0E-3B744E982E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Meta-Tourism</a:t>
            </a:r>
          </a:p>
        </p:txBody>
      </p:sp>
      <p:sp>
        <p:nvSpPr>
          <p:cNvPr id="6" name="Slide Number Placeholder 5">
            <a:extLst>
              <a:ext uri="{FF2B5EF4-FFF2-40B4-BE49-F238E27FC236}">
                <a16:creationId xmlns:a16="http://schemas.microsoft.com/office/drawing/2014/main" id="{033118F5-95E6-B4BB-4556-358D4DEBA6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321D51-0D33-47F4-8293-F27514F5326D}" type="slidenum">
              <a:rPr lang="en-IN" smtClean="0"/>
              <a:t>‹#›</a:t>
            </a:fld>
            <a:endParaRPr lang="en-IN"/>
          </a:p>
        </p:txBody>
      </p:sp>
    </p:spTree>
    <p:extLst>
      <p:ext uri="{BB962C8B-B14F-4D97-AF65-F5344CB8AC3E}">
        <p14:creationId xmlns:p14="http://schemas.microsoft.com/office/powerpoint/2010/main" val="3694241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2.xml"/><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2.xml"/><Relationship Id="rId4" Type="http://schemas.microsoft.com/office/2007/relationships/hdphoto" Target="../media/hdphoto4.wdp"/></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jpe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jpeg"/><Relationship Id="rId4" Type="http://schemas.openxmlformats.org/officeDocument/2006/relationships/image" Target="../media/image15.png"/><Relationship Id="rId9" Type="http://schemas.openxmlformats.org/officeDocument/2006/relationships/image" Target="../media/image20.jpeg"/></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C07C1B-7E63-D0AC-A7D2-A196F7F47BA4}"/>
              </a:ext>
            </a:extLst>
          </p:cNvPr>
          <p:cNvSpPr/>
          <p:nvPr/>
        </p:nvSpPr>
        <p:spPr>
          <a:xfrm>
            <a:off x="0" y="2000738"/>
            <a:ext cx="12192000" cy="702235"/>
          </a:xfrm>
          <a:prstGeom prst="rect">
            <a:avLst/>
          </a:prstGeom>
          <a:solidFill>
            <a:srgbClr val="CC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000" b="1" spc="42" dirty="0">
                <a:ln w="9525" cmpd="sng">
                  <a:solidFill>
                    <a:schemeClr val="accent1"/>
                  </a:solidFill>
                  <a:prstDash val="solid"/>
                </a:ln>
                <a:solidFill>
                  <a:srgbClr val="70AD47">
                    <a:tint val="1000"/>
                  </a:srgbClr>
                </a:solidFill>
                <a:effectLst>
                  <a:glow rad="38100">
                    <a:schemeClr val="accent1">
                      <a:alpha val="40000"/>
                    </a:schemeClr>
                  </a:glow>
                </a:effectLst>
              </a:rPr>
              <a:t>META-Tourism</a:t>
            </a:r>
            <a:endParaRPr lang="en-IN" sz="1500" dirty="0">
              <a:ln w="0"/>
              <a:solidFill>
                <a:schemeClr val="tx1"/>
              </a:solidFill>
              <a:effectLst>
                <a:outerShdw blurRad="38100" dist="19050" dir="2700000" algn="tl" rotWithShape="0">
                  <a:schemeClr val="dk1">
                    <a:alpha val="40000"/>
                  </a:schemeClr>
                </a:outerShdw>
              </a:effectLst>
            </a:endParaRPr>
          </a:p>
        </p:txBody>
      </p:sp>
      <p:pic>
        <p:nvPicPr>
          <p:cNvPr id="4" name="Picture 3">
            <a:extLst>
              <a:ext uri="{FF2B5EF4-FFF2-40B4-BE49-F238E27FC236}">
                <a16:creationId xmlns:a16="http://schemas.microsoft.com/office/drawing/2014/main" id="{1FB1141D-D08A-5692-28A5-67A0EADEB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155" y="250758"/>
            <a:ext cx="1206240" cy="1461078"/>
          </a:xfrm>
          <a:prstGeom prst="ellipse">
            <a:avLst/>
          </a:prstGeom>
          <a:ln>
            <a:noFill/>
          </a:ln>
          <a:effectLst/>
        </p:spPr>
      </p:pic>
      <p:sp>
        <p:nvSpPr>
          <p:cNvPr id="5" name="TextBox 4">
            <a:extLst>
              <a:ext uri="{FF2B5EF4-FFF2-40B4-BE49-F238E27FC236}">
                <a16:creationId xmlns:a16="http://schemas.microsoft.com/office/drawing/2014/main" id="{821EC1DE-6151-3F7E-503E-398AF0276055}"/>
              </a:ext>
            </a:extLst>
          </p:cNvPr>
          <p:cNvSpPr txBox="1"/>
          <p:nvPr/>
        </p:nvSpPr>
        <p:spPr>
          <a:xfrm>
            <a:off x="2292722" y="362634"/>
            <a:ext cx="8030883" cy="1237326"/>
          </a:xfrm>
          <a:prstGeom prst="rect">
            <a:avLst/>
          </a:prstGeom>
          <a:noFill/>
        </p:spPr>
        <p:txBody>
          <a:bodyPr wrap="square" rtlCol="0">
            <a:spAutoFit/>
          </a:bodyPr>
          <a:lstStyle/>
          <a:p>
            <a:pPr marL="227533" indent="-227533" algn="ctr">
              <a:lnSpc>
                <a:spcPct val="70000"/>
              </a:lnSpc>
              <a:spcBef>
                <a:spcPts val="479"/>
              </a:spcBef>
              <a:buClr>
                <a:schemeClr val="accent1"/>
              </a:buClr>
              <a:buSzPct val="85000"/>
            </a:pPr>
            <a:r>
              <a:rPr lang="en-US" altLang="en-US" sz="1500" dirty="0"/>
              <a:t>“Techno-Social Excellence”</a:t>
            </a:r>
          </a:p>
          <a:p>
            <a:pPr marL="227533" indent="-227533" algn="ctr">
              <a:spcBef>
                <a:spcPct val="20000"/>
              </a:spcBef>
              <a:buClr>
                <a:schemeClr val="accent1"/>
              </a:buClr>
              <a:buSzPct val="85000"/>
              <a:defRPr/>
            </a:pPr>
            <a:r>
              <a:rPr lang="en-US" altLang="en-US" sz="2000" b="1" dirty="0">
                <a:solidFill>
                  <a:srgbClr val="FF0000"/>
                </a:solidFill>
              </a:rPr>
              <a:t>Marathwada  Mitramandal’s  Institute of  Technology, Lohgaon, Pune-47</a:t>
            </a:r>
          </a:p>
          <a:p>
            <a:pPr marL="227533" indent="-227533" algn="ctr">
              <a:spcBef>
                <a:spcPts val="479"/>
              </a:spcBef>
              <a:buClr>
                <a:schemeClr val="accent1"/>
              </a:buClr>
              <a:buSzPct val="85000"/>
              <a:defRPr/>
            </a:pPr>
            <a:r>
              <a:rPr lang="en-US" altLang="en-US" sz="1667" dirty="0"/>
              <a:t>“Towards Ubiquitous Computing Technology”</a:t>
            </a:r>
          </a:p>
          <a:p>
            <a:pPr marL="227533" indent="-227533" algn="ctr">
              <a:lnSpc>
                <a:spcPct val="70000"/>
              </a:lnSpc>
              <a:spcBef>
                <a:spcPts val="479"/>
              </a:spcBef>
              <a:buClr>
                <a:schemeClr val="accent1"/>
              </a:buClr>
              <a:buSzPct val="85000"/>
              <a:defRPr/>
            </a:pPr>
            <a:r>
              <a:rPr lang="en-US" altLang="en-US" sz="2000" b="1" dirty="0">
                <a:solidFill>
                  <a:srgbClr val="FF0000"/>
                </a:solidFill>
              </a:rPr>
              <a:t>Department of  Computer Engineering</a:t>
            </a:r>
          </a:p>
        </p:txBody>
      </p:sp>
      <p:sp>
        <p:nvSpPr>
          <p:cNvPr id="8" name="TextBox 7">
            <a:extLst>
              <a:ext uri="{FF2B5EF4-FFF2-40B4-BE49-F238E27FC236}">
                <a16:creationId xmlns:a16="http://schemas.microsoft.com/office/drawing/2014/main" id="{18E3584B-18CF-4BA8-5E8B-6AA18474973C}"/>
              </a:ext>
            </a:extLst>
          </p:cNvPr>
          <p:cNvSpPr txBox="1"/>
          <p:nvPr/>
        </p:nvSpPr>
        <p:spPr>
          <a:xfrm>
            <a:off x="5632743" y="2966101"/>
            <a:ext cx="1402603" cy="605422"/>
          </a:xfrm>
          <a:prstGeom prst="rect">
            <a:avLst/>
          </a:prstGeom>
          <a:noFill/>
        </p:spPr>
        <p:txBody>
          <a:bodyPr wrap="square" rtlCol="0">
            <a:spAutoFit/>
          </a:bodyPr>
          <a:lstStyle/>
          <a:p>
            <a:pPr algn="ctr"/>
            <a:r>
              <a:rPr lang="en-IN" sz="1667" dirty="0">
                <a:latin typeface="Bahnschrift" panose="020B0502040204020203" pitchFamily="34" charset="0"/>
              </a:rPr>
              <a:t>Presented by</a:t>
            </a:r>
          </a:p>
        </p:txBody>
      </p:sp>
      <p:sp>
        <p:nvSpPr>
          <p:cNvPr id="9" name="TextBox 8">
            <a:extLst>
              <a:ext uri="{FF2B5EF4-FFF2-40B4-BE49-F238E27FC236}">
                <a16:creationId xmlns:a16="http://schemas.microsoft.com/office/drawing/2014/main" id="{6A651A7A-4482-C29F-9CC3-DBA3486180D1}"/>
              </a:ext>
            </a:extLst>
          </p:cNvPr>
          <p:cNvSpPr txBox="1"/>
          <p:nvPr/>
        </p:nvSpPr>
        <p:spPr>
          <a:xfrm>
            <a:off x="5266320" y="3379062"/>
            <a:ext cx="202363" cy="707886"/>
          </a:xfrm>
          <a:prstGeom prst="rect">
            <a:avLst/>
          </a:prstGeom>
          <a:noFill/>
        </p:spPr>
        <p:txBody>
          <a:bodyPr wrap="none" rtlCol="0">
            <a:spAutoFit/>
          </a:bodyPr>
          <a:lstStyle/>
          <a:p>
            <a:endParaRPr lang="en-IN" sz="2000" b="1" dirty="0"/>
          </a:p>
          <a:p>
            <a:pPr algn="ctr"/>
            <a:endParaRPr lang="en-IN" sz="2000" dirty="0"/>
          </a:p>
        </p:txBody>
      </p:sp>
      <p:sp>
        <p:nvSpPr>
          <p:cNvPr id="13" name="Subtitle 2">
            <a:extLst>
              <a:ext uri="{FF2B5EF4-FFF2-40B4-BE49-F238E27FC236}">
                <a16:creationId xmlns:a16="http://schemas.microsoft.com/office/drawing/2014/main" id="{3F41D275-A75D-E4C1-B009-3B9359A256EB}"/>
              </a:ext>
            </a:extLst>
          </p:cNvPr>
          <p:cNvSpPr txBox="1">
            <a:spLocks/>
          </p:cNvSpPr>
          <p:nvPr/>
        </p:nvSpPr>
        <p:spPr bwMode="auto">
          <a:xfrm>
            <a:off x="4110426" y="3693110"/>
            <a:ext cx="4395476" cy="1270000"/>
          </a:xfrm>
          <a:prstGeom prst="rect">
            <a:avLst/>
          </a:prstGeom>
          <a:noFill/>
          <a:ln w="9525">
            <a:noFill/>
            <a:miter lim="800000"/>
            <a:headEnd/>
            <a:tailEnd/>
          </a:ln>
        </p:spPr>
        <p:txBody>
          <a:bodyPr vert="horz" wrap="square" lIns="76200" tIns="38100" rIns="76200" bIns="38100" numCol="1" anchor="t" anchorCtr="0" compatLnSpc="1">
            <a:prstTxWarp prst="textNoShape">
              <a:avLst/>
            </a:prstTxWarp>
          </a:bodyPr>
          <a:lstStyle/>
          <a:p>
            <a:pPr marL="227533" indent="-227533">
              <a:spcBef>
                <a:spcPts val="479"/>
              </a:spcBef>
              <a:buClr>
                <a:schemeClr val="accent1"/>
              </a:buClr>
              <a:buSzPct val="85000"/>
              <a:defRPr/>
            </a:pPr>
            <a:r>
              <a:rPr lang="en-US" altLang="en-US" sz="1667" b="1" dirty="0"/>
              <a:t>Mr. Ronit Sharad Narawade	-  Roll No: BEB01</a:t>
            </a:r>
          </a:p>
          <a:p>
            <a:pPr marL="227533" indent="-227533">
              <a:spcBef>
                <a:spcPts val="500"/>
              </a:spcBef>
              <a:buClr>
                <a:schemeClr val="accent1"/>
              </a:buClr>
              <a:buSzPct val="85000"/>
              <a:defRPr/>
            </a:pPr>
            <a:r>
              <a:rPr lang="en-US" altLang="en-US" sz="1667" b="1" dirty="0"/>
              <a:t>Mr. Aditya Suresh Patil	- Roll No: BEB06</a:t>
            </a:r>
          </a:p>
          <a:p>
            <a:pPr marL="227533" indent="-227533">
              <a:spcBef>
                <a:spcPts val="500"/>
              </a:spcBef>
              <a:buClr>
                <a:schemeClr val="accent1"/>
              </a:buClr>
              <a:buSzPct val="85000"/>
              <a:defRPr/>
            </a:pPr>
            <a:r>
              <a:rPr lang="en-US" altLang="en-US" sz="1667" b="1" dirty="0"/>
              <a:t>Mr. Yash Devendra Patil 	- Roll No: BEB11</a:t>
            </a:r>
          </a:p>
          <a:p>
            <a:pPr marL="227533" indent="-227533">
              <a:spcBef>
                <a:spcPts val="500"/>
              </a:spcBef>
              <a:buClr>
                <a:schemeClr val="accent1"/>
              </a:buClr>
              <a:buSzPct val="85000"/>
              <a:defRPr/>
            </a:pPr>
            <a:r>
              <a:rPr lang="en-US" altLang="en-US" sz="1667" b="1" dirty="0"/>
              <a:t>Ms. </a:t>
            </a:r>
            <a:r>
              <a:rPr lang="en-US" altLang="en-US" sz="1667" b="1" dirty="0" err="1"/>
              <a:t>Sawri</a:t>
            </a:r>
            <a:r>
              <a:rPr lang="en-US" altLang="en-US" sz="1667" b="1" dirty="0"/>
              <a:t> Rajesh </a:t>
            </a:r>
            <a:r>
              <a:rPr lang="en-US" altLang="en-US" sz="1667" b="1" dirty="0" err="1"/>
              <a:t>Choudhari</a:t>
            </a:r>
            <a:r>
              <a:rPr lang="en-US" altLang="en-US" sz="1667" b="1" dirty="0"/>
              <a:t>	- Roll No: BEB29</a:t>
            </a:r>
          </a:p>
          <a:p>
            <a:pPr marL="227533" indent="-227533">
              <a:spcBef>
                <a:spcPts val="500"/>
              </a:spcBef>
              <a:buClr>
                <a:schemeClr val="accent1"/>
              </a:buClr>
              <a:buSzPct val="85000"/>
              <a:defRPr/>
            </a:pPr>
            <a:endParaRPr lang="en-US" altLang="en-US" sz="1667" b="1" dirty="0"/>
          </a:p>
        </p:txBody>
      </p:sp>
      <p:sp>
        <p:nvSpPr>
          <p:cNvPr id="6" name="TextBox 5">
            <a:extLst>
              <a:ext uri="{FF2B5EF4-FFF2-40B4-BE49-F238E27FC236}">
                <a16:creationId xmlns:a16="http://schemas.microsoft.com/office/drawing/2014/main" id="{B2A81F2D-AB91-3803-DB81-5A4FB28982DB}"/>
              </a:ext>
            </a:extLst>
          </p:cNvPr>
          <p:cNvSpPr txBox="1"/>
          <p:nvPr/>
        </p:nvSpPr>
        <p:spPr>
          <a:xfrm>
            <a:off x="4835489" y="5363888"/>
            <a:ext cx="2945351" cy="669542"/>
          </a:xfrm>
          <a:prstGeom prst="rect">
            <a:avLst/>
          </a:prstGeom>
          <a:noFill/>
        </p:spPr>
        <p:txBody>
          <a:bodyPr wrap="square">
            <a:spAutoFit/>
          </a:bodyPr>
          <a:lstStyle/>
          <a:p>
            <a:pPr algn="ctr">
              <a:spcBef>
                <a:spcPts val="483"/>
              </a:spcBef>
              <a:defRPr/>
            </a:pPr>
            <a:r>
              <a:rPr lang="en-US" sz="1667" dirty="0"/>
              <a:t>Under the Guidance of</a:t>
            </a:r>
          </a:p>
          <a:p>
            <a:pPr algn="ctr">
              <a:spcBef>
                <a:spcPts val="483"/>
              </a:spcBef>
              <a:defRPr/>
            </a:pPr>
            <a:r>
              <a:rPr lang="en-US" sz="1667" b="1" dirty="0"/>
              <a:t>Dr.  </a:t>
            </a:r>
            <a:r>
              <a:rPr lang="en-US" sz="1667" b="1" dirty="0" err="1"/>
              <a:t>Subhash.G.Rathod</a:t>
            </a:r>
            <a:endParaRPr lang="en-US" sz="1667" b="1" dirty="0"/>
          </a:p>
        </p:txBody>
      </p:sp>
      <p:sp>
        <p:nvSpPr>
          <p:cNvPr id="2" name="TextBox 1">
            <a:extLst>
              <a:ext uri="{FF2B5EF4-FFF2-40B4-BE49-F238E27FC236}">
                <a16:creationId xmlns:a16="http://schemas.microsoft.com/office/drawing/2014/main" id="{F42E55D2-FFDC-FB63-F034-13B556AFEF61}"/>
              </a:ext>
            </a:extLst>
          </p:cNvPr>
          <p:cNvSpPr txBox="1"/>
          <p:nvPr/>
        </p:nvSpPr>
        <p:spPr>
          <a:xfrm>
            <a:off x="5304982" y="1631406"/>
            <a:ext cx="1606978" cy="369332"/>
          </a:xfrm>
          <a:prstGeom prst="rect">
            <a:avLst/>
          </a:prstGeom>
          <a:noFill/>
        </p:spPr>
        <p:txBody>
          <a:bodyPr wrap="none" rtlCol="0">
            <a:spAutoFit/>
          </a:bodyPr>
          <a:lstStyle/>
          <a:p>
            <a:r>
              <a:rPr lang="en-IN" b="1" dirty="0"/>
              <a:t>Project Stage 1</a:t>
            </a:r>
          </a:p>
        </p:txBody>
      </p:sp>
      <p:pic>
        <p:nvPicPr>
          <p:cNvPr id="7" name="Picture 2" descr="Image preview">
            <a:extLst>
              <a:ext uri="{FF2B5EF4-FFF2-40B4-BE49-F238E27FC236}">
                <a16:creationId xmlns:a16="http://schemas.microsoft.com/office/drawing/2014/main" id="{6E1E86F5-C8F9-E77D-9C64-F43462297C29}"/>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9227352" y="2966101"/>
            <a:ext cx="2192506" cy="3286477"/>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13CC098-389B-0886-C849-A72AF27FD990}"/>
              </a:ext>
            </a:extLst>
          </p:cNvPr>
          <p:cNvPicPr>
            <a:picLocks noChangeAspect="1" noChangeArrowheads="1"/>
          </p:cNvPicPr>
          <p:nvPr/>
        </p:nvPicPr>
        <p:blipFill rotWithShape="1">
          <a:blip r:embed="rId4">
            <a:lum bright="70000" contrast="-70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l="18730" r="25467"/>
          <a:stretch/>
        </p:blipFill>
        <p:spPr bwMode="auto">
          <a:xfrm>
            <a:off x="169608" y="2830184"/>
            <a:ext cx="3858788" cy="3558309"/>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9746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155B7-1F6D-6793-2FE2-2A786A647A64}"/>
              </a:ext>
            </a:extLst>
          </p:cNvPr>
          <p:cNvSpPr txBox="1">
            <a:spLocks/>
          </p:cNvSpPr>
          <p:nvPr/>
        </p:nvSpPr>
        <p:spPr>
          <a:xfrm>
            <a:off x="0" y="201525"/>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Contents</a:t>
            </a:r>
            <a:endParaRPr lang="en-US" b="1" dirty="0"/>
          </a:p>
        </p:txBody>
      </p:sp>
      <p:pic>
        <p:nvPicPr>
          <p:cNvPr id="2052" name="Picture 4" descr="Menu - Free multimedia icons">
            <a:extLst>
              <a:ext uri="{FF2B5EF4-FFF2-40B4-BE49-F238E27FC236}">
                <a16:creationId xmlns:a16="http://schemas.microsoft.com/office/drawing/2014/main" id="{5238D205-933B-31B5-6E8E-EAC3845B4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058" y="257662"/>
            <a:ext cx="639712" cy="63971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F1AB5E6-DE53-A2CE-9908-18061CC5FB4E}"/>
              </a:ext>
            </a:extLst>
          </p:cNvPr>
          <p:cNvSpPr txBox="1">
            <a:spLocks/>
          </p:cNvSpPr>
          <p:nvPr/>
        </p:nvSpPr>
        <p:spPr>
          <a:xfrm>
            <a:off x="657575" y="897374"/>
            <a:ext cx="9532153" cy="5696672"/>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Introduction</a:t>
            </a:r>
          </a:p>
          <a:p>
            <a:r>
              <a:rPr lang="en-US" sz="1600" dirty="0"/>
              <a:t>Motivation</a:t>
            </a:r>
          </a:p>
          <a:p>
            <a:r>
              <a:rPr lang="en-US" sz="1600" dirty="0"/>
              <a:t>Problem Definition</a:t>
            </a:r>
          </a:p>
          <a:p>
            <a:r>
              <a:rPr lang="en-US" sz="1600" dirty="0"/>
              <a:t>Literature Survey</a:t>
            </a:r>
          </a:p>
          <a:p>
            <a:r>
              <a:rPr lang="en-US" sz="1600" dirty="0"/>
              <a:t>Architectural Diagram &amp; Other relevance</a:t>
            </a:r>
          </a:p>
          <a:p>
            <a:r>
              <a:rPr lang="en-US" sz="1600" dirty="0"/>
              <a:t>Algorithm &amp; Other relevance</a:t>
            </a:r>
          </a:p>
          <a:p>
            <a:r>
              <a:rPr lang="en-US" sz="1600" dirty="0"/>
              <a:t>Mathematical Modeling</a:t>
            </a:r>
          </a:p>
          <a:p>
            <a:r>
              <a:rPr lang="en-US" sz="1600" dirty="0"/>
              <a:t>NP/NP-P/NP-Hard/NP Complete Analysis</a:t>
            </a:r>
          </a:p>
          <a:p>
            <a:r>
              <a:rPr lang="en-US" sz="1600" dirty="0"/>
              <a:t>DFD &amp; relevance</a:t>
            </a:r>
          </a:p>
          <a:p>
            <a:r>
              <a:rPr lang="en-US" sz="1600" dirty="0"/>
              <a:t>UML Modeling</a:t>
            </a:r>
          </a:p>
          <a:p>
            <a:r>
              <a:rPr lang="en-US" sz="1600" dirty="0"/>
              <a:t>Advantages</a:t>
            </a:r>
          </a:p>
          <a:p>
            <a:r>
              <a:rPr lang="en-US" sz="1600" dirty="0"/>
              <a:t>Disadvantages</a:t>
            </a:r>
          </a:p>
          <a:p>
            <a:r>
              <a:rPr lang="en-US" sz="1600" dirty="0"/>
              <a:t>Applications</a:t>
            </a:r>
          </a:p>
          <a:p>
            <a:r>
              <a:rPr lang="en-US" sz="1600" dirty="0"/>
              <a:t>Future Scope</a:t>
            </a:r>
          </a:p>
          <a:p>
            <a:r>
              <a:rPr lang="en-US" sz="1600" dirty="0"/>
              <a:t>Conclusion</a:t>
            </a:r>
          </a:p>
          <a:p>
            <a:r>
              <a:rPr lang="en-US" sz="1600" dirty="0"/>
              <a:t>References</a:t>
            </a:r>
          </a:p>
          <a:p>
            <a:endParaRPr lang="en-US" sz="1600" dirty="0"/>
          </a:p>
        </p:txBody>
      </p:sp>
      <p:pic>
        <p:nvPicPr>
          <p:cNvPr id="2054" name="Picture 6">
            <a:extLst>
              <a:ext uri="{FF2B5EF4-FFF2-40B4-BE49-F238E27FC236}">
                <a16:creationId xmlns:a16="http://schemas.microsoft.com/office/drawing/2014/main" id="{769F6C17-1DDA-9E5D-BA28-62660101F970}"/>
              </a:ext>
            </a:extLst>
          </p:cNvPr>
          <p:cNvPicPr>
            <a:picLocks noChangeAspect="1" noChangeArrowheads="1"/>
          </p:cNvPicPr>
          <p:nvPr/>
        </p:nvPicPr>
        <p:blipFill>
          <a:blip r:embed="rId3">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5854813" y="1638300"/>
            <a:ext cx="5372100" cy="358140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51295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imple Guide To Developing A Metaverse Virtual World | Vegavid">
            <a:extLst>
              <a:ext uri="{FF2B5EF4-FFF2-40B4-BE49-F238E27FC236}">
                <a16:creationId xmlns:a16="http://schemas.microsoft.com/office/drawing/2014/main" id="{4C19E603-3D39-D24D-F2A2-77D1B112FBC4}"/>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616598" y="973718"/>
            <a:ext cx="10761315" cy="5496988"/>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pic>
        <p:nvPicPr>
          <p:cNvPr id="3076" name="Picture 4" descr="Intro Svg Png Icon Free Download (#341330) - OnlineWebFonts.COM">
            <a:extLst>
              <a:ext uri="{FF2B5EF4-FFF2-40B4-BE49-F238E27FC236}">
                <a16:creationId xmlns:a16="http://schemas.microsoft.com/office/drawing/2014/main" id="{E1A45D1C-05F9-96F0-CD3F-456750004F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854" y="276229"/>
            <a:ext cx="697489" cy="69748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B15B36-6F0F-0325-AA4E-7AB87DE1D8BA}"/>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Introduction</a:t>
            </a:r>
            <a:endParaRPr lang="en-US" b="1" dirty="0"/>
          </a:p>
        </p:txBody>
      </p:sp>
      <p:sp>
        <p:nvSpPr>
          <p:cNvPr id="4" name="TextBox 3">
            <a:extLst>
              <a:ext uri="{FF2B5EF4-FFF2-40B4-BE49-F238E27FC236}">
                <a16:creationId xmlns:a16="http://schemas.microsoft.com/office/drawing/2014/main" id="{344539A6-ED47-6BAC-BD1A-F39007126EB6}"/>
              </a:ext>
            </a:extLst>
          </p:cNvPr>
          <p:cNvSpPr txBox="1"/>
          <p:nvPr/>
        </p:nvSpPr>
        <p:spPr>
          <a:xfrm>
            <a:off x="616598" y="1062995"/>
            <a:ext cx="10667857" cy="586635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rPr>
              <a:t>"Meta-Tourism” is an ambitious plan that ushers in a new era of travel and exploration by combining physical and digital spaces</a:t>
            </a:r>
          </a:p>
          <a:p>
            <a:pPr marL="285750" indent="-285750" algn="just">
              <a:lnSpc>
                <a:spcPct val="150000"/>
              </a:lnSpc>
              <a:buFont typeface="Arial" panose="020B0604020202020204" pitchFamily="34" charset="0"/>
              <a:buChar char="•"/>
            </a:pPr>
            <a:endParaRPr lang="en-IN" sz="1800" dirty="0">
              <a:effectLst/>
              <a:latin typeface="Times New Roman" panose="02020603050405020304" pitchFamily="18" charset="0"/>
              <a:ea typeface="Calibri" panose="020F0502020204030204" pitchFamily="34" charset="0"/>
            </a:endParaRPr>
          </a:p>
          <a:p>
            <a:pPr marL="285750" indent="-285750" algn="just">
              <a:lnSpc>
                <a:spcPct val="150000"/>
              </a:lnSpc>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rPr>
              <a:t>The beauty of Meta-verse travel extends beyond serving as an alternative means of journeying; it represents an entirely new and transformative channel for exploration, learning, and connectivity. </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ea typeface="Calibri" panose="020F0502020204030204" pitchFamily="34" charset="0"/>
            </a:endParaRPr>
          </a:p>
          <a:p>
            <a:pPr marL="285750" indent="-285750" algn="just">
              <a:lnSpc>
                <a:spcPct val="150000"/>
              </a:lnSpc>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rPr>
              <a:t>Virtual universe travel is not just another way to travel, but an additional and new way to explore, learn and connect.</a:t>
            </a:r>
          </a:p>
          <a:p>
            <a:pPr marL="285750" indent="-285750" algn="just">
              <a:lnSpc>
                <a:spcPct val="150000"/>
              </a:lnSpc>
              <a:buFont typeface="Arial" panose="020B0604020202020204" pitchFamily="34" charset="0"/>
              <a:buChar char="•"/>
            </a:pPr>
            <a:endParaRPr lang="en-IN" sz="1800" dirty="0">
              <a:effectLst/>
              <a:latin typeface="Times New Roman" panose="02020603050405020304" pitchFamily="18" charset="0"/>
              <a:ea typeface="Calibri" panose="020F0502020204030204" pitchFamily="34" charset="0"/>
            </a:endParaRPr>
          </a:p>
          <a:p>
            <a:pPr marL="285750" indent="-285750" algn="just">
              <a:lnSpc>
                <a:spcPct val="150000"/>
              </a:lnSpc>
              <a:buFont typeface="Arial" panose="020B0604020202020204" pitchFamily="34" charset="0"/>
              <a:buChar char="•"/>
            </a:pPr>
            <a:r>
              <a:rPr lang="en-IN" sz="1800" kern="100" dirty="0">
                <a:effectLst/>
                <a:latin typeface="Times New Roman" panose="02020603050405020304" pitchFamily="18" charset="0"/>
                <a:ea typeface="Calibri" panose="020F0502020204030204" pitchFamily="34" charset="0"/>
                <a:cs typeface="Mangal" panose="02040503050203030202" pitchFamily="18" charset="0"/>
              </a:rPr>
              <a:t>This innovative initiative is not limited to leisurely tourism but </a:t>
            </a:r>
            <a:r>
              <a:rPr lang="en-IN" sz="1800" kern="100" dirty="0" err="1">
                <a:effectLst/>
                <a:latin typeface="Times New Roman" panose="02020603050405020304" pitchFamily="18" charset="0"/>
                <a:ea typeface="Calibri" panose="020F0502020204030204" pitchFamily="34" charset="0"/>
                <a:cs typeface="Mangal" panose="02040503050203030202" pitchFamily="18" charset="0"/>
              </a:rPr>
              <a:t>harbors</a:t>
            </a:r>
            <a:r>
              <a:rPr lang="en-IN" sz="1800" kern="100" dirty="0">
                <a:effectLst/>
                <a:latin typeface="Times New Roman" panose="02020603050405020304" pitchFamily="18" charset="0"/>
                <a:ea typeface="Calibri" panose="020F0502020204030204" pitchFamily="34" charset="0"/>
                <a:cs typeface="Mangal" panose="02040503050203030202" pitchFamily="18" charset="0"/>
              </a:rPr>
              <a:t> ambitions to foster cultural exchange, preserve heritage, and address environmental sustainability. It presents an exciting prospect for individuals with limited mobility, offering them the opportunity to embark on journeys previously thought to be impossible.</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285750" indent="-285750" algn="just">
              <a:lnSpc>
                <a:spcPct val="150000"/>
              </a:lnSpc>
              <a:buFont typeface="Arial" panose="020B0604020202020204" pitchFamily="34" charset="0"/>
              <a:buChar char="•"/>
            </a:pPr>
            <a:endParaRPr lang="en-IN" dirty="0"/>
          </a:p>
        </p:txBody>
      </p:sp>
      <p:sp>
        <p:nvSpPr>
          <p:cNvPr id="3" name="Footer Placeholder 2">
            <a:extLst>
              <a:ext uri="{FF2B5EF4-FFF2-40B4-BE49-F238E27FC236}">
                <a16:creationId xmlns:a16="http://schemas.microsoft.com/office/drawing/2014/main" id="{BD1D32CD-6EA8-260A-1CFF-3712BBF6BE54}"/>
              </a:ext>
            </a:extLst>
          </p:cNvPr>
          <p:cNvSpPr txBox="1">
            <a:spLocks/>
          </p:cNvSpPr>
          <p:nvPr/>
        </p:nvSpPr>
        <p:spPr>
          <a:xfrm>
            <a:off x="4038599" y="6396574"/>
            <a:ext cx="7871749" cy="324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dirty="0">
                <a:solidFill>
                  <a:schemeClr val="bg2">
                    <a:lumMod val="50000"/>
                  </a:schemeClr>
                </a:solidFill>
              </a:rPr>
              <a:t>Meta-Tourism						3		</a:t>
            </a:r>
          </a:p>
        </p:txBody>
      </p:sp>
    </p:spTree>
    <p:extLst>
      <p:ext uri="{BB962C8B-B14F-4D97-AF65-F5344CB8AC3E}">
        <p14:creationId xmlns:p14="http://schemas.microsoft.com/office/powerpoint/2010/main" val="3475126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etaverse: Exploring the Emergence of Virtual World and Its Impact on  Society – The Tech Guy">
            <a:extLst>
              <a:ext uri="{FF2B5EF4-FFF2-40B4-BE49-F238E27FC236}">
                <a16:creationId xmlns:a16="http://schemas.microsoft.com/office/drawing/2014/main" id="{C649B7EB-F465-C47F-67AE-0F131708A9E6}"/>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5716264" y="790643"/>
            <a:ext cx="6269837" cy="3134919"/>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D7F25CC-0E54-7C93-1F0B-A095D2AE7604}"/>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Motivation</a:t>
            </a:r>
            <a:endParaRPr lang="en-US" b="1" dirty="0"/>
          </a:p>
        </p:txBody>
      </p:sp>
      <p:sp>
        <p:nvSpPr>
          <p:cNvPr id="4" name="TextBox 3">
            <a:extLst>
              <a:ext uri="{FF2B5EF4-FFF2-40B4-BE49-F238E27FC236}">
                <a16:creationId xmlns:a16="http://schemas.microsoft.com/office/drawing/2014/main" id="{4DBBCCDF-C0F4-CEB6-DDE3-E44D0C0AAC66}"/>
              </a:ext>
            </a:extLst>
          </p:cNvPr>
          <p:cNvSpPr txBox="1"/>
          <p:nvPr/>
        </p:nvSpPr>
        <p:spPr>
          <a:xfrm>
            <a:off x="291233" y="993125"/>
            <a:ext cx="11379200" cy="586487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1750" dirty="0">
                <a:effectLst/>
                <a:latin typeface="Times New Roman" panose="02020603050405020304" pitchFamily="18" charset="0"/>
                <a:ea typeface="Calibri" panose="020F0502020204030204" pitchFamily="34" charset="0"/>
              </a:rPr>
              <a:t>Developing a Meta-tourism project represents an exciting fusion of technology and travel, offering a myriad of compelling motivations. First and foremost, it champions global accessibility, effectively dismantling geographical constraints and granting people worldwide the ability to virtually explore destinations.</a:t>
            </a:r>
          </a:p>
          <a:p>
            <a:pPr marL="285750" indent="-285750" algn="just">
              <a:lnSpc>
                <a:spcPct val="150000"/>
              </a:lnSpc>
              <a:buFont typeface="Arial" panose="020B0604020202020204" pitchFamily="34" charset="0"/>
              <a:buChar char="•"/>
            </a:pPr>
            <a:endParaRPr lang="en-IN" sz="1750" dirty="0">
              <a:effectLst/>
              <a:latin typeface="Times New Roman" panose="02020603050405020304" pitchFamily="18" charset="0"/>
              <a:ea typeface="Calibri" panose="020F0502020204030204" pitchFamily="34" charset="0"/>
            </a:endParaRPr>
          </a:p>
          <a:p>
            <a:pPr marL="285750" indent="-285750" algn="just">
              <a:lnSpc>
                <a:spcPct val="150000"/>
              </a:lnSpc>
              <a:buFont typeface="Arial" panose="020B0604020202020204" pitchFamily="34" charset="0"/>
              <a:buChar char="•"/>
            </a:pPr>
            <a:r>
              <a:rPr lang="en-IN" sz="1750" dirty="0">
                <a:latin typeface="Times New Roman" panose="02020603050405020304" pitchFamily="18" charset="0"/>
                <a:ea typeface="Calibri" panose="020F0502020204030204" pitchFamily="34" charset="0"/>
              </a:rPr>
              <a:t>T</a:t>
            </a:r>
            <a:r>
              <a:rPr lang="en-IN" sz="1750" dirty="0">
                <a:effectLst/>
                <a:latin typeface="Times New Roman" panose="02020603050405020304" pitchFamily="18" charset="0"/>
                <a:ea typeface="Calibri" panose="020F0502020204030204" pitchFamily="34" charset="0"/>
              </a:rPr>
              <a:t>he metaverse is a fertile ground for fostering cultural exchange. It provides a platform for immersive experiences where users can engage with diverse cultures, traditions, and historical sites, nurturing a global sense of understanding and appreciation.</a:t>
            </a:r>
          </a:p>
          <a:p>
            <a:pPr marL="285750" indent="-285750" algn="just">
              <a:lnSpc>
                <a:spcPct val="150000"/>
              </a:lnSpc>
              <a:buFont typeface="Arial" panose="020B0604020202020204" pitchFamily="34" charset="0"/>
              <a:buChar char="•"/>
            </a:pPr>
            <a:endParaRPr lang="en-IN" sz="1750" dirty="0">
              <a:effectLst/>
              <a:latin typeface="Times New Roman" panose="02020603050405020304" pitchFamily="18" charset="0"/>
              <a:ea typeface="Calibri" panose="020F0502020204030204" pitchFamily="34" charset="0"/>
            </a:endParaRPr>
          </a:p>
          <a:p>
            <a:pPr marL="285750" indent="-285750" algn="just">
              <a:lnSpc>
                <a:spcPct val="150000"/>
              </a:lnSpc>
              <a:buFont typeface="Arial" panose="020B0604020202020204" pitchFamily="34" charset="0"/>
              <a:buChar char="•"/>
            </a:pPr>
            <a:r>
              <a:rPr lang="en-IN" sz="1750" dirty="0">
                <a:effectLst/>
                <a:latin typeface="Times New Roman" panose="02020603050405020304" pitchFamily="18" charset="0"/>
                <a:ea typeface="Calibri" panose="020F0502020204030204" pitchFamily="34" charset="0"/>
              </a:rPr>
              <a:t>Environmental sustainability also stands as a driving force. Given the environmental concerns tied to physical travel, the metaverse offers a sustainable alternative</a:t>
            </a:r>
          </a:p>
          <a:p>
            <a:pPr marL="285750" indent="-285750" algn="just">
              <a:lnSpc>
                <a:spcPct val="150000"/>
              </a:lnSpc>
              <a:buFont typeface="Arial" panose="020B0604020202020204" pitchFamily="34" charset="0"/>
              <a:buChar char="•"/>
            </a:pPr>
            <a:endParaRPr lang="en-IN" sz="1750" dirty="0">
              <a:latin typeface="Times New Roman" panose="02020603050405020304" pitchFamily="18" charset="0"/>
              <a:ea typeface="Calibri" panose="020F0502020204030204" pitchFamily="34" charset="0"/>
            </a:endParaRPr>
          </a:p>
          <a:p>
            <a:pPr marL="285750" indent="-285750" algn="just">
              <a:lnSpc>
                <a:spcPct val="150000"/>
              </a:lnSpc>
              <a:buFont typeface="Arial" panose="020B0604020202020204" pitchFamily="34" charset="0"/>
              <a:buChar char="•"/>
            </a:pPr>
            <a:r>
              <a:rPr lang="en-IN" sz="1750" dirty="0">
                <a:effectLst/>
                <a:latin typeface="Times New Roman" panose="02020603050405020304" pitchFamily="18" charset="0"/>
                <a:ea typeface="Calibri" panose="020F0502020204030204" pitchFamily="34" charset="0"/>
              </a:rPr>
              <a:t>The business potential is substantial, spanning the creation and sale of virtual goods, services, and experiences. Entrepreneurs can explore partnerships with real-world tourism entities or collaborate with local artists and creators, opening up new revenue streams</a:t>
            </a:r>
            <a:endParaRPr lang="en-IN" sz="1750" dirty="0"/>
          </a:p>
        </p:txBody>
      </p:sp>
      <p:pic>
        <p:nvPicPr>
          <p:cNvPr id="1026" name="Picture 2" descr="Motivation Icon - Download in Line Style">
            <a:extLst>
              <a:ext uri="{FF2B5EF4-FFF2-40B4-BE49-F238E27FC236}">
                <a16:creationId xmlns:a16="http://schemas.microsoft.com/office/drawing/2014/main" id="{7C5B96CC-B37B-E030-C5C9-2E5B647699B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05899" y="276229"/>
            <a:ext cx="665162" cy="665162"/>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C24E65BC-5615-008D-3FC0-04DEA8638329}"/>
              </a:ext>
            </a:extLst>
          </p:cNvPr>
          <p:cNvSpPr txBox="1">
            <a:spLocks/>
          </p:cNvSpPr>
          <p:nvPr/>
        </p:nvSpPr>
        <p:spPr>
          <a:xfrm>
            <a:off x="4038599" y="6396574"/>
            <a:ext cx="7871749" cy="324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dirty="0">
                <a:solidFill>
                  <a:schemeClr val="bg2">
                    <a:lumMod val="50000"/>
                  </a:schemeClr>
                </a:solidFill>
              </a:rPr>
              <a:t>Meta-Tourism						4				</a:t>
            </a:r>
          </a:p>
        </p:txBody>
      </p:sp>
    </p:spTree>
    <p:extLst>
      <p:ext uri="{BB962C8B-B14F-4D97-AF65-F5344CB8AC3E}">
        <p14:creationId xmlns:p14="http://schemas.microsoft.com/office/powerpoint/2010/main" val="702486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eta officially launches its Horizon Worlds metaverse app in the US and  Canada | Daily Mail Online">
            <a:extLst>
              <a:ext uri="{FF2B5EF4-FFF2-40B4-BE49-F238E27FC236}">
                <a16:creationId xmlns:a16="http://schemas.microsoft.com/office/drawing/2014/main" id="{CFACB1DA-C247-815E-C822-C2571CF93218}"/>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1655029" y="933738"/>
            <a:ext cx="8881942" cy="4990523"/>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A4A3AA3-9B08-4ADD-10AA-6C0F82CAD99D}"/>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Problem Definition</a:t>
            </a:r>
          </a:p>
          <a:p>
            <a:endParaRPr lang="en-US" b="1" dirty="0"/>
          </a:p>
        </p:txBody>
      </p:sp>
      <p:sp>
        <p:nvSpPr>
          <p:cNvPr id="4" name="TextBox 3">
            <a:extLst>
              <a:ext uri="{FF2B5EF4-FFF2-40B4-BE49-F238E27FC236}">
                <a16:creationId xmlns:a16="http://schemas.microsoft.com/office/drawing/2014/main" id="{18770606-99D1-88B9-3C4A-4325E6B7338C}"/>
              </a:ext>
            </a:extLst>
          </p:cNvPr>
          <p:cNvSpPr txBox="1"/>
          <p:nvPr/>
        </p:nvSpPr>
        <p:spPr>
          <a:xfrm>
            <a:off x="502920" y="1535308"/>
            <a:ext cx="11186160" cy="3787383"/>
          </a:xfrm>
          <a:prstGeom prst="rect">
            <a:avLst/>
          </a:prstGeom>
          <a:noFill/>
        </p:spPr>
        <p:txBody>
          <a:bodyPr wrap="square">
            <a:spAutoFit/>
          </a:bodyPr>
          <a:lstStyle/>
          <a:p>
            <a:pPr marL="457200" algn="just">
              <a:lnSpc>
                <a:spcPct val="150000"/>
              </a:lnSpc>
              <a:spcAft>
                <a:spcPts val="800"/>
              </a:spcAft>
              <a:tabLst>
                <a:tab pos="2329815" algn="l"/>
              </a:tabLst>
            </a:pPr>
            <a:r>
              <a:rPr lang="en-IN" sz="1800" kern="0" dirty="0">
                <a:effectLst/>
                <a:latin typeface="TimesNewRomanPS-BoldMT"/>
                <a:ea typeface="Calibri" panose="020F0502020204030204" pitchFamily="34" charset="0"/>
                <a:cs typeface="TimesNewRomanPS-BoldMT"/>
              </a:rPr>
              <a:t>Meta-tourism, the use of metaverse technologies to create immersive travel experiences, faces technical challenges such as the cost of VR/AR hardware, lack of metaverse standardization, and ethical concerns around accessibility and fraud. Addressing these challenges will enable meta-tourism to reach its full potential as a more accessible, equitable, and ethical way to travel. The need to ensure that meta-tourism experiences are accessible to everyone and that users are protected from fraud and abuse Achieving seamless connectivity and interaction between various virtual environments and platforms within the meta works while maintaining a consistent user experience. Ensuring that the infrastructure supporting the metaverse can handle a growing user base and the increasing complexity of virtual environments. Establishing secure and user control digital identities while addressing a privacy concern related to the collection and use of personal data within the metaphors.</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2050" name="Picture 2" descr="Problem Definition Icon - Download in Glyph Style">
            <a:extLst>
              <a:ext uri="{FF2B5EF4-FFF2-40B4-BE49-F238E27FC236}">
                <a16:creationId xmlns:a16="http://schemas.microsoft.com/office/drawing/2014/main" id="{673E4C80-49CF-F8E5-6727-3C6B94D6599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75009" y="207174"/>
            <a:ext cx="855821" cy="855821"/>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2">
            <a:extLst>
              <a:ext uri="{FF2B5EF4-FFF2-40B4-BE49-F238E27FC236}">
                <a16:creationId xmlns:a16="http://schemas.microsoft.com/office/drawing/2014/main" id="{32164E32-D16E-58A1-2910-E194D7EE283A}"/>
              </a:ext>
            </a:extLst>
          </p:cNvPr>
          <p:cNvSpPr txBox="1">
            <a:spLocks/>
          </p:cNvSpPr>
          <p:nvPr/>
        </p:nvSpPr>
        <p:spPr>
          <a:xfrm>
            <a:off x="4038599" y="6396574"/>
            <a:ext cx="7871749" cy="32490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dirty="0">
                <a:solidFill>
                  <a:schemeClr val="bg2">
                    <a:lumMod val="50000"/>
                  </a:schemeClr>
                </a:solidFill>
              </a:rPr>
              <a:t>Meta-Tourism						5				</a:t>
            </a:r>
          </a:p>
        </p:txBody>
      </p:sp>
    </p:spTree>
    <p:extLst>
      <p:ext uri="{BB962C8B-B14F-4D97-AF65-F5344CB8AC3E}">
        <p14:creationId xmlns:p14="http://schemas.microsoft.com/office/powerpoint/2010/main" val="1775673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E5E86-0F98-BAAF-84C1-BEC1090DDABC}"/>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Literature Survey</a:t>
            </a:r>
          </a:p>
          <a:p>
            <a:endParaRPr lang="en-US" b="1" dirty="0"/>
          </a:p>
        </p:txBody>
      </p:sp>
      <p:graphicFrame>
        <p:nvGraphicFramePr>
          <p:cNvPr id="4" name="Table 3">
            <a:extLst>
              <a:ext uri="{FF2B5EF4-FFF2-40B4-BE49-F238E27FC236}">
                <a16:creationId xmlns:a16="http://schemas.microsoft.com/office/drawing/2014/main" id="{2B75E6E9-A967-A8A6-ECE5-1E93818448FC}"/>
              </a:ext>
            </a:extLst>
          </p:cNvPr>
          <p:cNvGraphicFramePr>
            <a:graphicFrameLocks noGrp="1"/>
          </p:cNvGraphicFramePr>
          <p:nvPr>
            <p:extLst>
              <p:ext uri="{D42A27DB-BD31-4B8C-83A1-F6EECF244321}">
                <p14:modId xmlns:p14="http://schemas.microsoft.com/office/powerpoint/2010/main" val="466675501"/>
              </p:ext>
            </p:extLst>
          </p:nvPr>
        </p:nvGraphicFramePr>
        <p:xfrm>
          <a:off x="959224" y="936532"/>
          <a:ext cx="10524565" cy="5755620"/>
        </p:xfrm>
        <a:graphic>
          <a:graphicData uri="http://schemas.openxmlformats.org/drawingml/2006/table">
            <a:tbl>
              <a:tblPr firstRow="1" firstCol="1" bandRow="1">
                <a:tableStyleId>{616DA210-FB5B-4158-B5E0-FEB733F419BA}</a:tableStyleId>
              </a:tblPr>
              <a:tblGrid>
                <a:gridCol w="459762">
                  <a:extLst>
                    <a:ext uri="{9D8B030D-6E8A-4147-A177-3AD203B41FA5}">
                      <a16:colId xmlns:a16="http://schemas.microsoft.com/office/drawing/2014/main" val="3809541855"/>
                    </a:ext>
                  </a:extLst>
                </a:gridCol>
                <a:gridCol w="3153589">
                  <a:extLst>
                    <a:ext uri="{9D8B030D-6E8A-4147-A177-3AD203B41FA5}">
                      <a16:colId xmlns:a16="http://schemas.microsoft.com/office/drawing/2014/main" val="2613160951"/>
                    </a:ext>
                  </a:extLst>
                </a:gridCol>
                <a:gridCol w="1194201">
                  <a:extLst>
                    <a:ext uri="{9D8B030D-6E8A-4147-A177-3AD203B41FA5}">
                      <a16:colId xmlns:a16="http://schemas.microsoft.com/office/drawing/2014/main" val="1927313815"/>
                    </a:ext>
                  </a:extLst>
                </a:gridCol>
                <a:gridCol w="1329734">
                  <a:extLst>
                    <a:ext uri="{9D8B030D-6E8A-4147-A177-3AD203B41FA5}">
                      <a16:colId xmlns:a16="http://schemas.microsoft.com/office/drawing/2014/main" val="1871638088"/>
                    </a:ext>
                  </a:extLst>
                </a:gridCol>
                <a:gridCol w="4387279">
                  <a:extLst>
                    <a:ext uri="{9D8B030D-6E8A-4147-A177-3AD203B41FA5}">
                      <a16:colId xmlns:a16="http://schemas.microsoft.com/office/drawing/2014/main" val="2441308919"/>
                    </a:ext>
                  </a:extLst>
                </a:gridCol>
              </a:tblGrid>
              <a:tr h="244631">
                <a:tc>
                  <a:txBody>
                    <a:bodyPr/>
                    <a:lstStyle/>
                    <a:p>
                      <a:pPr algn="ctr">
                        <a:lnSpc>
                          <a:spcPct val="150000"/>
                        </a:lnSpc>
                        <a:spcAft>
                          <a:spcPts val="800"/>
                        </a:spcAft>
                      </a:pPr>
                      <a:r>
                        <a:rPr lang="en-IN" sz="1400" kern="0" dirty="0">
                          <a:effectLst/>
                        </a:rPr>
                        <a:t>Sr. No.</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ctr">
                        <a:lnSpc>
                          <a:spcPct val="150000"/>
                        </a:lnSpc>
                        <a:spcAft>
                          <a:spcPts val="800"/>
                        </a:spcAft>
                      </a:pPr>
                      <a:r>
                        <a:rPr lang="en-IN" sz="1400" kern="0" dirty="0">
                          <a:effectLst/>
                        </a:rPr>
                        <a:t>Title</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ctr">
                        <a:lnSpc>
                          <a:spcPct val="150000"/>
                        </a:lnSpc>
                        <a:spcAft>
                          <a:spcPts val="800"/>
                        </a:spcAft>
                      </a:pPr>
                      <a:r>
                        <a:rPr lang="en-IN" sz="1400" kern="0" dirty="0">
                          <a:effectLst/>
                        </a:rPr>
                        <a:t>Publish Year</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ctr">
                        <a:lnSpc>
                          <a:spcPct val="150000"/>
                        </a:lnSpc>
                        <a:spcAft>
                          <a:spcPts val="800"/>
                        </a:spcAft>
                      </a:pPr>
                      <a:r>
                        <a:rPr lang="en-IN" sz="1400" kern="0" dirty="0">
                          <a:effectLst/>
                        </a:rPr>
                        <a:t>Authors</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ctr">
                        <a:lnSpc>
                          <a:spcPct val="150000"/>
                        </a:lnSpc>
                        <a:spcAft>
                          <a:spcPts val="800"/>
                        </a:spcAft>
                      </a:pPr>
                      <a:r>
                        <a:rPr lang="en-IN" sz="1400" kern="0" dirty="0">
                          <a:effectLst/>
                        </a:rPr>
                        <a:t>Findings</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extLst>
                  <a:ext uri="{0D108BD9-81ED-4DB2-BD59-A6C34878D82A}">
                    <a16:rowId xmlns:a16="http://schemas.microsoft.com/office/drawing/2014/main" val="4082191920"/>
                  </a:ext>
                </a:extLst>
              </a:tr>
              <a:tr h="1145163">
                <a:tc>
                  <a:txBody>
                    <a:bodyPr/>
                    <a:lstStyle/>
                    <a:p>
                      <a:pPr algn="ctr">
                        <a:lnSpc>
                          <a:spcPct val="150000"/>
                        </a:lnSpc>
                        <a:spcAft>
                          <a:spcPts val="800"/>
                        </a:spcAft>
                      </a:pPr>
                      <a:r>
                        <a:rPr lang="en-IN" sz="1400" kern="0" dirty="0">
                          <a:effectLst/>
                        </a:rPr>
                        <a:t>1.</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l">
                        <a:lnSpc>
                          <a:spcPct val="150000"/>
                        </a:lnSpc>
                        <a:spcAft>
                          <a:spcPts val="800"/>
                        </a:spcAft>
                      </a:pPr>
                      <a:r>
                        <a:rPr lang="en-IN" sz="1400" kern="0" dirty="0">
                          <a:effectLst/>
                        </a:rPr>
                        <a:t>Metaverse as a disruptive technology revolutionising tourism management and marketing.</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ctr">
                        <a:lnSpc>
                          <a:spcPct val="150000"/>
                        </a:lnSpc>
                        <a:spcAft>
                          <a:spcPts val="800"/>
                        </a:spcAft>
                      </a:pPr>
                      <a:r>
                        <a:rPr lang="en-IN" sz="1400" kern="0" dirty="0">
                          <a:effectLst/>
                        </a:rPr>
                        <a:t>2023</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just">
                        <a:lnSpc>
                          <a:spcPct val="150000"/>
                        </a:lnSpc>
                        <a:spcAft>
                          <a:spcPts val="800"/>
                        </a:spcAft>
                      </a:pPr>
                      <a:r>
                        <a:rPr lang="en-IN" sz="1400" kern="0" dirty="0" err="1">
                          <a:effectLst/>
                        </a:rPr>
                        <a:t>Buhalis</a:t>
                      </a:r>
                      <a:r>
                        <a:rPr lang="en-IN" sz="1400" kern="0" dirty="0">
                          <a:effectLst/>
                        </a:rPr>
                        <a:t>, D., Leung, D., &amp; Lin, M.</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just">
                        <a:lnSpc>
                          <a:spcPct val="150000"/>
                        </a:lnSpc>
                        <a:spcAft>
                          <a:spcPts val="800"/>
                        </a:spcAft>
                      </a:pPr>
                      <a:r>
                        <a:rPr lang="en-IN" sz="1400" kern="0" dirty="0">
                          <a:effectLst/>
                        </a:rPr>
                        <a:t>The Metaverse employs diverse technologies like real-time rendering, physics simulation, networking, and AI to craft immersive virtual worlds. Emerging technologies like VR, AR, and XR further enhance it. These tools enable novel tourism experiences like virtual tours, personalized suggestions, and digital passports.</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extLst>
                  <a:ext uri="{0D108BD9-81ED-4DB2-BD59-A6C34878D82A}">
                    <a16:rowId xmlns:a16="http://schemas.microsoft.com/office/drawing/2014/main" val="2983861915"/>
                  </a:ext>
                </a:extLst>
              </a:tr>
              <a:tr h="1145163">
                <a:tc>
                  <a:txBody>
                    <a:bodyPr/>
                    <a:lstStyle/>
                    <a:p>
                      <a:pPr algn="ctr">
                        <a:lnSpc>
                          <a:spcPct val="150000"/>
                        </a:lnSpc>
                        <a:spcAft>
                          <a:spcPts val="800"/>
                        </a:spcAft>
                      </a:pPr>
                      <a:r>
                        <a:rPr lang="en-IN" sz="1400" kern="0" dirty="0">
                          <a:effectLst/>
                        </a:rPr>
                        <a:t>2</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l">
                        <a:lnSpc>
                          <a:spcPct val="150000"/>
                        </a:lnSpc>
                        <a:spcAft>
                          <a:spcPts val="800"/>
                        </a:spcAft>
                      </a:pPr>
                      <a:r>
                        <a:rPr lang="en-IN" sz="1400" kern="0" dirty="0">
                          <a:effectLst/>
                        </a:rPr>
                        <a:t>Meta-tourism for sustainable tourism development</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ctr">
                        <a:lnSpc>
                          <a:spcPct val="150000"/>
                        </a:lnSpc>
                        <a:spcAft>
                          <a:spcPts val="800"/>
                        </a:spcAft>
                      </a:pPr>
                      <a:r>
                        <a:rPr lang="en-IN" sz="1400" kern="0" dirty="0">
                          <a:effectLst/>
                        </a:rPr>
                        <a:t>2023</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just">
                        <a:lnSpc>
                          <a:spcPct val="150000"/>
                        </a:lnSpc>
                        <a:spcAft>
                          <a:spcPts val="800"/>
                        </a:spcAft>
                      </a:pPr>
                      <a:r>
                        <a:rPr lang="en-IN" sz="1400" kern="100" dirty="0">
                          <a:effectLst/>
                        </a:rPr>
                        <a:t>Go, H., &amp; Kang, M.</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just">
                        <a:lnSpc>
                          <a:spcPct val="150000"/>
                        </a:lnSpc>
                        <a:spcAft>
                          <a:spcPts val="800"/>
                        </a:spcAft>
                      </a:pPr>
                      <a:r>
                        <a:rPr lang="en-IN" sz="1400" kern="0" dirty="0">
                          <a:effectLst/>
                        </a:rPr>
                        <a:t>The primary objective of this study is to offer a comprehensive definition of "Meta-tourism" and to present an analytical perspective on this emerging concept. The research also intends to investigate the potential of Meta-tourism in the context of promoting sustainability within the tourism industry.</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extLst>
                  <a:ext uri="{0D108BD9-81ED-4DB2-BD59-A6C34878D82A}">
                    <a16:rowId xmlns:a16="http://schemas.microsoft.com/office/drawing/2014/main" val="1514482957"/>
                  </a:ext>
                </a:extLst>
              </a:tr>
              <a:tr h="693494">
                <a:tc>
                  <a:txBody>
                    <a:bodyPr/>
                    <a:lstStyle/>
                    <a:p>
                      <a:pPr algn="ctr">
                        <a:lnSpc>
                          <a:spcPct val="150000"/>
                        </a:lnSpc>
                        <a:spcAft>
                          <a:spcPts val="800"/>
                        </a:spcAft>
                      </a:pPr>
                      <a:r>
                        <a:rPr lang="en-IN" sz="1400" kern="0" dirty="0">
                          <a:effectLst/>
                        </a:rPr>
                        <a:t>3</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l">
                        <a:lnSpc>
                          <a:spcPct val="150000"/>
                        </a:lnSpc>
                        <a:spcAft>
                          <a:spcPts val="800"/>
                        </a:spcAft>
                      </a:pPr>
                      <a:r>
                        <a:rPr lang="en-IN" sz="1400" kern="0" dirty="0">
                          <a:effectLst/>
                        </a:rPr>
                        <a:t>The metaverse in the hospitality and tourism industry: An overview of current trends and future research directions</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ctr">
                        <a:lnSpc>
                          <a:spcPct val="150000"/>
                        </a:lnSpc>
                        <a:spcAft>
                          <a:spcPts val="800"/>
                        </a:spcAft>
                      </a:pPr>
                      <a:r>
                        <a:rPr lang="en-IN" sz="1400" kern="0" dirty="0">
                          <a:effectLst/>
                        </a:rPr>
                        <a:t>2023</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just">
                        <a:lnSpc>
                          <a:spcPct val="150000"/>
                        </a:lnSpc>
                        <a:spcAft>
                          <a:spcPts val="800"/>
                        </a:spcAft>
                      </a:pPr>
                      <a:r>
                        <a:rPr lang="en-IN" sz="1400" kern="0" dirty="0" err="1">
                          <a:effectLst/>
                        </a:rPr>
                        <a:t>Gursoy</a:t>
                      </a:r>
                      <a:r>
                        <a:rPr lang="en-IN" sz="1400" kern="0" dirty="0">
                          <a:effectLst/>
                        </a:rPr>
                        <a:t>, Dogan, Suresh </a:t>
                      </a:r>
                      <a:r>
                        <a:rPr lang="en-IN" sz="1400" kern="0" dirty="0" err="1">
                          <a:effectLst/>
                        </a:rPr>
                        <a:t>Malodia</a:t>
                      </a:r>
                      <a:r>
                        <a:rPr lang="en-IN" sz="1400" kern="0" dirty="0">
                          <a:effectLst/>
                        </a:rPr>
                        <a:t>, and Amandeep Dhir</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tc>
                  <a:txBody>
                    <a:bodyPr/>
                    <a:lstStyle/>
                    <a:p>
                      <a:pPr algn="just">
                        <a:lnSpc>
                          <a:spcPct val="150000"/>
                        </a:lnSpc>
                        <a:spcAft>
                          <a:spcPts val="800"/>
                        </a:spcAft>
                      </a:pPr>
                      <a:r>
                        <a:rPr lang="en-IN" sz="1400" kern="0" dirty="0">
                          <a:effectLst/>
                        </a:rPr>
                        <a:t>A conceptual framework for creating metaverse experiences, identifying research gaps, and proposing agenda items with the potential to significantly benefit hospitality and tourism industry players</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nchor="ctr"/>
                </a:tc>
                <a:extLst>
                  <a:ext uri="{0D108BD9-81ED-4DB2-BD59-A6C34878D82A}">
                    <a16:rowId xmlns:a16="http://schemas.microsoft.com/office/drawing/2014/main" val="1139702683"/>
                  </a:ext>
                </a:extLst>
              </a:tr>
            </a:tbl>
          </a:graphicData>
        </a:graphic>
      </p:graphicFrame>
      <p:pic>
        <p:nvPicPr>
          <p:cNvPr id="3074" name="Picture 2" descr="Literature Icons - Free SVG &amp; PNG Literature Images - Noun Project">
            <a:extLst>
              <a:ext uri="{FF2B5EF4-FFF2-40B4-BE49-F238E27FC236}">
                <a16:creationId xmlns:a16="http://schemas.microsoft.com/office/drawing/2014/main" id="{2A150A24-7CF0-E2DF-8EA5-DCB8B0489B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97" y="194701"/>
            <a:ext cx="741831" cy="741831"/>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8344B661-13B8-1A83-F664-351DEF379E45}"/>
              </a:ext>
            </a:extLst>
          </p:cNvPr>
          <p:cNvSpPr>
            <a:spLocks noGrp="1"/>
          </p:cNvSpPr>
          <p:nvPr>
            <p:ph type="ftr" sz="quarter" idx="11"/>
          </p:nvPr>
        </p:nvSpPr>
        <p:spPr>
          <a:xfrm>
            <a:off x="4164106" y="6587059"/>
            <a:ext cx="4114800" cy="365125"/>
          </a:xfrm>
        </p:spPr>
        <p:txBody>
          <a:bodyPr/>
          <a:lstStyle/>
          <a:p>
            <a:r>
              <a:rPr lang="en-IN" dirty="0"/>
              <a:t>Meta-Tourism</a:t>
            </a:r>
          </a:p>
        </p:txBody>
      </p:sp>
      <p:sp>
        <p:nvSpPr>
          <p:cNvPr id="5" name="Slide Number Placeholder 4">
            <a:extLst>
              <a:ext uri="{FF2B5EF4-FFF2-40B4-BE49-F238E27FC236}">
                <a16:creationId xmlns:a16="http://schemas.microsoft.com/office/drawing/2014/main" id="{A6C3DF96-97AC-82C3-64B5-2D8E3DE10760}"/>
              </a:ext>
            </a:extLst>
          </p:cNvPr>
          <p:cNvSpPr>
            <a:spLocks noGrp="1"/>
          </p:cNvSpPr>
          <p:nvPr>
            <p:ph type="sldNum" sz="quarter" idx="12"/>
          </p:nvPr>
        </p:nvSpPr>
        <p:spPr>
          <a:xfrm>
            <a:off x="8740588" y="6587059"/>
            <a:ext cx="2743200" cy="365125"/>
          </a:xfrm>
        </p:spPr>
        <p:txBody>
          <a:bodyPr/>
          <a:lstStyle/>
          <a:p>
            <a:fld id="{43321D51-0D33-47F4-8293-F27514F5326D}" type="slidenum">
              <a:rPr lang="en-IN" smtClean="0"/>
              <a:t>6</a:t>
            </a:fld>
            <a:endParaRPr lang="en-IN" dirty="0"/>
          </a:p>
        </p:txBody>
      </p:sp>
    </p:spTree>
    <p:extLst>
      <p:ext uri="{BB962C8B-B14F-4D97-AF65-F5344CB8AC3E}">
        <p14:creationId xmlns:p14="http://schemas.microsoft.com/office/powerpoint/2010/main" val="664847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E5E86-0F98-BAAF-84C1-BEC1090DDABC}"/>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Literature Survey</a:t>
            </a:r>
          </a:p>
          <a:p>
            <a:endParaRPr lang="en-US" b="1" dirty="0"/>
          </a:p>
        </p:txBody>
      </p:sp>
      <p:graphicFrame>
        <p:nvGraphicFramePr>
          <p:cNvPr id="4" name="Table 3">
            <a:extLst>
              <a:ext uri="{FF2B5EF4-FFF2-40B4-BE49-F238E27FC236}">
                <a16:creationId xmlns:a16="http://schemas.microsoft.com/office/drawing/2014/main" id="{2B75E6E9-A967-A8A6-ECE5-1E93818448FC}"/>
              </a:ext>
            </a:extLst>
          </p:cNvPr>
          <p:cNvGraphicFramePr>
            <a:graphicFrameLocks noGrp="1"/>
          </p:cNvGraphicFramePr>
          <p:nvPr>
            <p:extLst>
              <p:ext uri="{D42A27DB-BD31-4B8C-83A1-F6EECF244321}">
                <p14:modId xmlns:p14="http://schemas.microsoft.com/office/powerpoint/2010/main" val="306966226"/>
              </p:ext>
            </p:extLst>
          </p:nvPr>
        </p:nvGraphicFramePr>
        <p:xfrm>
          <a:off x="959224" y="936532"/>
          <a:ext cx="10524565" cy="4796775"/>
        </p:xfrm>
        <a:graphic>
          <a:graphicData uri="http://schemas.openxmlformats.org/drawingml/2006/table">
            <a:tbl>
              <a:tblPr firstRow="1" firstCol="1" bandRow="1">
                <a:tableStyleId>{616DA210-FB5B-4158-B5E0-FEB733F419BA}</a:tableStyleId>
              </a:tblPr>
              <a:tblGrid>
                <a:gridCol w="459762">
                  <a:extLst>
                    <a:ext uri="{9D8B030D-6E8A-4147-A177-3AD203B41FA5}">
                      <a16:colId xmlns:a16="http://schemas.microsoft.com/office/drawing/2014/main" val="3809541855"/>
                    </a:ext>
                  </a:extLst>
                </a:gridCol>
                <a:gridCol w="3153589">
                  <a:extLst>
                    <a:ext uri="{9D8B030D-6E8A-4147-A177-3AD203B41FA5}">
                      <a16:colId xmlns:a16="http://schemas.microsoft.com/office/drawing/2014/main" val="2613160951"/>
                    </a:ext>
                  </a:extLst>
                </a:gridCol>
                <a:gridCol w="1194201">
                  <a:extLst>
                    <a:ext uri="{9D8B030D-6E8A-4147-A177-3AD203B41FA5}">
                      <a16:colId xmlns:a16="http://schemas.microsoft.com/office/drawing/2014/main" val="1927313815"/>
                    </a:ext>
                  </a:extLst>
                </a:gridCol>
                <a:gridCol w="1329734">
                  <a:extLst>
                    <a:ext uri="{9D8B030D-6E8A-4147-A177-3AD203B41FA5}">
                      <a16:colId xmlns:a16="http://schemas.microsoft.com/office/drawing/2014/main" val="1871638088"/>
                    </a:ext>
                  </a:extLst>
                </a:gridCol>
                <a:gridCol w="4387279">
                  <a:extLst>
                    <a:ext uri="{9D8B030D-6E8A-4147-A177-3AD203B41FA5}">
                      <a16:colId xmlns:a16="http://schemas.microsoft.com/office/drawing/2014/main" val="2441308919"/>
                    </a:ext>
                  </a:extLst>
                </a:gridCol>
              </a:tblGrid>
              <a:tr h="244631">
                <a:tc>
                  <a:txBody>
                    <a:bodyPr/>
                    <a:lstStyle/>
                    <a:p>
                      <a:pPr algn="ctr">
                        <a:lnSpc>
                          <a:spcPct val="150000"/>
                        </a:lnSpc>
                        <a:spcAft>
                          <a:spcPts val="800"/>
                        </a:spcAft>
                      </a:pPr>
                      <a:r>
                        <a:rPr lang="en-IN" sz="1400" kern="0" dirty="0">
                          <a:effectLst/>
                        </a:rPr>
                        <a:t>Sr. No.</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ctr">
                        <a:lnSpc>
                          <a:spcPct val="150000"/>
                        </a:lnSpc>
                        <a:spcAft>
                          <a:spcPts val="800"/>
                        </a:spcAft>
                      </a:pPr>
                      <a:r>
                        <a:rPr lang="en-IN" sz="1400" kern="0" dirty="0">
                          <a:effectLst/>
                        </a:rPr>
                        <a:t>Title</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ctr">
                        <a:lnSpc>
                          <a:spcPct val="150000"/>
                        </a:lnSpc>
                        <a:spcAft>
                          <a:spcPts val="800"/>
                        </a:spcAft>
                      </a:pPr>
                      <a:r>
                        <a:rPr lang="en-IN" sz="1400" kern="0" dirty="0">
                          <a:effectLst/>
                        </a:rPr>
                        <a:t>Publish Year</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ctr">
                        <a:lnSpc>
                          <a:spcPct val="150000"/>
                        </a:lnSpc>
                        <a:spcAft>
                          <a:spcPts val="800"/>
                        </a:spcAft>
                      </a:pPr>
                      <a:r>
                        <a:rPr lang="en-IN" sz="1400" kern="0" dirty="0">
                          <a:effectLst/>
                        </a:rPr>
                        <a:t>Authors</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ctr">
                        <a:lnSpc>
                          <a:spcPct val="150000"/>
                        </a:lnSpc>
                        <a:spcAft>
                          <a:spcPts val="800"/>
                        </a:spcAft>
                      </a:pPr>
                      <a:r>
                        <a:rPr lang="en-IN" sz="1400" kern="0" dirty="0">
                          <a:effectLst/>
                        </a:rPr>
                        <a:t>Findings</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extLst>
                  <a:ext uri="{0D108BD9-81ED-4DB2-BD59-A6C34878D82A}">
                    <a16:rowId xmlns:a16="http://schemas.microsoft.com/office/drawing/2014/main" val="4082191920"/>
                  </a:ext>
                </a:extLst>
              </a:tr>
              <a:tr h="1145163">
                <a:tc>
                  <a:txBody>
                    <a:bodyPr/>
                    <a:lstStyle/>
                    <a:p>
                      <a:pPr algn="ctr">
                        <a:lnSpc>
                          <a:spcPct val="150000"/>
                        </a:lnSpc>
                        <a:spcAft>
                          <a:spcPts val="800"/>
                        </a:spcAft>
                      </a:pPr>
                      <a:r>
                        <a:rPr lang="en-IN" sz="1400" kern="0" dirty="0">
                          <a:effectLst/>
                        </a:rPr>
                        <a:t>4</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l">
                        <a:lnSpc>
                          <a:spcPct val="150000"/>
                        </a:lnSpc>
                        <a:spcAft>
                          <a:spcPts val="800"/>
                        </a:spcAft>
                      </a:pPr>
                      <a:r>
                        <a:rPr lang="en-IN" sz="1400" kern="0" dirty="0">
                          <a:effectLst/>
                        </a:rPr>
                        <a:t>Security and privacy in metaverse: A comprehensive survey.</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ctr">
                        <a:lnSpc>
                          <a:spcPct val="150000"/>
                        </a:lnSpc>
                        <a:spcAft>
                          <a:spcPts val="800"/>
                        </a:spcAft>
                      </a:pPr>
                      <a:r>
                        <a:rPr lang="en-IN" sz="1400" kern="0" dirty="0">
                          <a:effectLst/>
                        </a:rPr>
                        <a:t>2023</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just">
                        <a:lnSpc>
                          <a:spcPct val="150000"/>
                        </a:lnSpc>
                        <a:spcAft>
                          <a:spcPts val="800"/>
                        </a:spcAft>
                      </a:pPr>
                      <a:r>
                        <a:rPr lang="en-IN" sz="1400" kern="0" dirty="0">
                          <a:effectLst/>
                        </a:rPr>
                        <a:t>Huang, Yan, Yi Joy Li, and </a:t>
                      </a:r>
                      <a:r>
                        <a:rPr lang="en-IN" sz="1400" kern="0" dirty="0" err="1">
                          <a:effectLst/>
                        </a:rPr>
                        <a:t>Zhipeng</a:t>
                      </a:r>
                      <a:r>
                        <a:rPr lang="en-IN" sz="1400" kern="0" dirty="0">
                          <a:effectLst/>
                        </a:rPr>
                        <a:t> Cai.</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just">
                        <a:lnSpc>
                          <a:spcPct val="150000"/>
                        </a:lnSpc>
                        <a:spcAft>
                          <a:spcPts val="800"/>
                        </a:spcAft>
                      </a:pPr>
                      <a:r>
                        <a:rPr lang="en-IN" sz="1400" kern="0" dirty="0">
                          <a:effectLst/>
                        </a:rPr>
                        <a:t>The Metaverse is defined by its socialization, immersive interaction, real-world construction, and expandability. While these traits create a captivating digital world, they also introduce security and privacy risks, including data leakage and unauthorized access. This paper reviews the Metaverse's progress and applications across economic sectors.</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extLst>
                  <a:ext uri="{0D108BD9-81ED-4DB2-BD59-A6C34878D82A}">
                    <a16:rowId xmlns:a16="http://schemas.microsoft.com/office/drawing/2014/main" val="2247750399"/>
                  </a:ext>
                </a:extLst>
              </a:tr>
              <a:tr h="1145163">
                <a:tc>
                  <a:txBody>
                    <a:bodyPr/>
                    <a:lstStyle/>
                    <a:p>
                      <a:pPr algn="ctr">
                        <a:lnSpc>
                          <a:spcPct val="150000"/>
                        </a:lnSpc>
                        <a:spcAft>
                          <a:spcPts val="800"/>
                        </a:spcAft>
                      </a:pPr>
                      <a:r>
                        <a:rPr lang="en-IN" sz="1400" kern="0" dirty="0">
                          <a:effectLst/>
                        </a:rPr>
                        <a:t>5</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l">
                        <a:lnSpc>
                          <a:spcPct val="150000"/>
                        </a:lnSpc>
                        <a:spcAft>
                          <a:spcPts val="800"/>
                        </a:spcAft>
                      </a:pPr>
                      <a:r>
                        <a:rPr lang="en-IN" sz="1400" kern="0" dirty="0">
                          <a:effectLst/>
                        </a:rPr>
                        <a:t>How Metaverse-Virtual Reality-Can Facilitate the Emergency Remote Teaching</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ctr">
                        <a:lnSpc>
                          <a:spcPct val="150000"/>
                        </a:lnSpc>
                        <a:spcAft>
                          <a:spcPts val="800"/>
                        </a:spcAft>
                      </a:pPr>
                      <a:r>
                        <a:rPr lang="en-IN" sz="1400" kern="0" dirty="0">
                          <a:effectLst/>
                        </a:rPr>
                        <a:t>2022</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just">
                        <a:lnSpc>
                          <a:spcPct val="150000"/>
                        </a:lnSpc>
                        <a:spcAft>
                          <a:spcPts val="800"/>
                        </a:spcAft>
                      </a:pPr>
                      <a:r>
                        <a:rPr lang="en-IN" sz="1400" kern="0" dirty="0" err="1">
                          <a:effectLst/>
                        </a:rPr>
                        <a:t>Sumardani</a:t>
                      </a:r>
                      <a:r>
                        <a:rPr lang="en-IN" sz="1400" kern="0" dirty="0">
                          <a:effectLst/>
                        </a:rPr>
                        <a:t>, D., &amp; </a:t>
                      </a:r>
                      <a:r>
                        <a:rPr lang="en-IN" sz="1400" kern="0" dirty="0" err="1">
                          <a:effectLst/>
                        </a:rPr>
                        <a:t>Sumardani</a:t>
                      </a:r>
                      <a:r>
                        <a:rPr lang="en-IN" sz="1400" kern="0" dirty="0">
                          <a:effectLst/>
                        </a:rPr>
                        <a:t>, N. I.</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tc>
                  <a:txBody>
                    <a:bodyPr/>
                    <a:lstStyle/>
                    <a:p>
                      <a:pPr algn="just">
                        <a:lnSpc>
                          <a:spcPct val="150000"/>
                        </a:lnSpc>
                        <a:spcAft>
                          <a:spcPts val="800"/>
                        </a:spcAft>
                      </a:pPr>
                      <a:r>
                        <a:rPr lang="en-IN" sz="1400" kern="0" dirty="0">
                          <a:effectLst/>
                        </a:rPr>
                        <a:t>The Metaverse can transform ERT with immersive and collaborative learning, yet challenges in accessibility, cost, and pedagogy require attention. Educators should prepare by exploring Metaverse's teaching potential, training staff, and collaborating with key stakeholders to facilitate its widespread adoption in emergency remote teaching.</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txBody>
                  <a:tcPr marL="15200" marR="15200" marT="15904" marB="15904"/>
                </a:tc>
                <a:extLst>
                  <a:ext uri="{0D108BD9-81ED-4DB2-BD59-A6C34878D82A}">
                    <a16:rowId xmlns:a16="http://schemas.microsoft.com/office/drawing/2014/main" val="4192837660"/>
                  </a:ext>
                </a:extLst>
              </a:tr>
            </a:tbl>
          </a:graphicData>
        </a:graphic>
      </p:graphicFrame>
      <p:pic>
        <p:nvPicPr>
          <p:cNvPr id="3074" name="Picture 2" descr="Literature Icons - Free SVG &amp; PNG Literature Images - Noun Project">
            <a:extLst>
              <a:ext uri="{FF2B5EF4-FFF2-40B4-BE49-F238E27FC236}">
                <a16:creationId xmlns:a16="http://schemas.microsoft.com/office/drawing/2014/main" id="{2A150A24-7CF0-E2DF-8EA5-DCB8B0489B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97" y="194701"/>
            <a:ext cx="741831" cy="741831"/>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A3ADB103-8675-697F-13CD-1BB95C882F43}"/>
              </a:ext>
            </a:extLst>
          </p:cNvPr>
          <p:cNvSpPr>
            <a:spLocks noGrp="1"/>
          </p:cNvSpPr>
          <p:nvPr>
            <p:ph type="ftr" sz="quarter" idx="11"/>
          </p:nvPr>
        </p:nvSpPr>
        <p:spPr/>
        <p:txBody>
          <a:bodyPr/>
          <a:lstStyle/>
          <a:p>
            <a:r>
              <a:rPr lang="en-IN" dirty="0"/>
              <a:t>Meta-Tourism</a:t>
            </a:r>
          </a:p>
        </p:txBody>
      </p:sp>
      <p:sp>
        <p:nvSpPr>
          <p:cNvPr id="5" name="Slide Number Placeholder 4">
            <a:extLst>
              <a:ext uri="{FF2B5EF4-FFF2-40B4-BE49-F238E27FC236}">
                <a16:creationId xmlns:a16="http://schemas.microsoft.com/office/drawing/2014/main" id="{02334907-52C8-3084-857E-9503D2B588DF}"/>
              </a:ext>
            </a:extLst>
          </p:cNvPr>
          <p:cNvSpPr>
            <a:spLocks noGrp="1"/>
          </p:cNvSpPr>
          <p:nvPr>
            <p:ph type="sldNum" sz="quarter" idx="12"/>
          </p:nvPr>
        </p:nvSpPr>
        <p:spPr/>
        <p:txBody>
          <a:bodyPr/>
          <a:lstStyle/>
          <a:p>
            <a:fld id="{43321D51-0D33-47F4-8293-F27514F5326D}" type="slidenum">
              <a:rPr lang="en-IN" smtClean="0"/>
              <a:t>7</a:t>
            </a:fld>
            <a:endParaRPr lang="en-IN"/>
          </a:p>
        </p:txBody>
      </p:sp>
    </p:spTree>
    <p:extLst>
      <p:ext uri="{BB962C8B-B14F-4D97-AF65-F5344CB8AC3E}">
        <p14:creationId xmlns:p14="http://schemas.microsoft.com/office/powerpoint/2010/main" val="2167051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16B4-06E1-FD44-6D9C-3226FC90AA4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Architectural Diagram &amp; Other relevance</a:t>
            </a:r>
          </a:p>
          <a:p>
            <a:endParaRPr lang="en-US" b="1" dirty="0"/>
          </a:p>
        </p:txBody>
      </p:sp>
      <p:pic>
        <p:nvPicPr>
          <p:cNvPr id="4098" name="Picture 2" descr="Architecture Good Ware Lineal icon">
            <a:extLst>
              <a:ext uri="{FF2B5EF4-FFF2-40B4-BE49-F238E27FC236}">
                <a16:creationId xmlns:a16="http://schemas.microsoft.com/office/drawing/2014/main" id="{D2529D81-D427-D77D-B6F6-B999AE04BA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80" y="224515"/>
            <a:ext cx="838480" cy="838480"/>
          </a:xfrm>
          <a:prstGeom prst="rect">
            <a:avLst/>
          </a:prstGeom>
          <a:noFill/>
          <a:extLst>
            <a:ext uri="{909E8E84-426E-40DD-AFC4-6F175D3DCCD1}">
              <a14:hiddenFill xmlns:a14="http://schemas.microsoft.com/office/drawing/2010/main">
                <a:solidFill>
                  <a:srgbClr val="FFFFFF"/>
                </a:solidFill>
              </a14:hiddenFill>
            </a:ext>
          </a:extLst>
        </p:spPr>
      </p:pic>
      <p:grpSp>
        <p:nvGrpSpPr>
          <p:cNvPr id="4155" name="Group 4154">
            <a:extLst>
              <a:ext uri="{FF2B5EF4-FFF2-40B4-BE49-F238E27FC236}">
                <a16:creationId xmlns:a16="http://schemas.microsoft.com/office/drawing/2014/main" id="{2F45FF45-8052-153E-E599-106311570552}"/>
              </a:ext>
            </a:extLst>
          </p:cNvPr>
          <p:cNvGrpSpPr/>
          <p:nvPr/>
        </p:nvGrpSpPr>
        <p:grpSpPr>
          <a:xfrm>
            <a:off x="497711" y="1062995"/>
            <a:ext cx="11401064" cy="5518776"/>
            <a:chOff x="393539" y="1062995"/>
            <a:chExt cx="11401064" cy="5518776"/>
          </a:xfrm>
        </p:grpSpPr>
        <p:grpSp>
          <p:nvGrpSpPr>
            <p:cNvPr id="49" name="Group 48">
              <a:extLst>
                <a:ext uri="{FF2B5EF4-FFF2-40B4-BE49-F238E27FC236}">
                  <a16:creationId xmlns:a16="http://schemas.microsoft.com/office/drawing/2014/main" id="{F02F7312-C0A0-7807-B60A-7A4955A28A11}"/>
                </a:ext>
              </a:extLst>
            </p:cNvPr>
            <p:cNvGrpSpPr/>
            <p:nvPr/>
          </p:nvGrpSpPr>
          <p:grpSpPr>
            <a:xfrm>
              <a:off x="831962" y="1230456"/>
              <a:ext cx="10509050" cy="5104391"/>
              <a:chOff x="268101" y="28683"/>
              <a:chExt cx="12042539" cy="6153317"/>
            </a:xfrm>
          </p:grpSpPr>
          <p:pic>
            <p:nvPicPr>
              <p:cNvPr id="50" name="Picture 18" descr="New 3-D structure shows optimal way to divide space">
                <a:extLst>
                  <a:ext uri="{FF2B5EF4-FFF2-40B4-BE49-F238E27FC236}">
                    <a16:creationId xmlns:a16="http://schemas.microsoft.com/office/drawing/2014/main" id="{12136AFF-E11B-848B-2252-8B33DFE96D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1519" y="4913628"/>
                <a:ext cx="1151319" cy="90558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1" name="Picture 2" descr="Tourist - Free user icons">
                <a:extLst>
                  <a:ext uri="{FF2B5EF4-FFF2-40B4-BE49-F238E27FC236}">
                    <a16:creationId xmlns:a16="http://schemas.microsoft.com/office/drawing/2014/main" id="{16C82A37-5140-CE47-2F93-45AA2EF652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101" y="2808669"/>
                <a:ext cx="719166" cy="719166"/>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Server - Free multimedia icons">
                <a:extLst>
                  <a:ext uri="{FF2B5EF4-FFF2-40B4-BE49-F238E27FC236}">
                    <a16:creationId xmlns:a16="http://schemas.microsoft.com/office/drawing/2014/main" id="{42251AA4-F353-88FB-4DA6-F3B9A136DB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6554" y="28683"/>
                <a:ext cx="786766" cy="786766"/>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6" descr="Database Server icon PNG and SVG Vector Free Download">
                <a:extLst>
                  <a:ext uri="{FF2B5EF4-FFF2-40B4-BE49-F238E27FC236}">
                    <a16:creationId xmlns:a16="http://schemas.microsoft.com/office/drawing/2014/main" id="{4A2F4544-DEB0-01DE-760F-00C49D5C54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3243" y="1127413"/>
                <a:ext cx="753387" cy="75675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8" descr="Download Icon, Feedback, Review. Royalty-Free Vector Graphic - Pixabay">
                <a:extLst>
                  <a:ext uri="{FF2B5EF4-FFF2-40B4-BE49-F238E27FC236}">
                    <a16:creationId xmlns:a16="http://schemas.microsoft.com/office/drawing/2014/main" id="{32D36B9B-ADAF-ED1F-41F7-5D06CF5A26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0543" y="3612833"/>
                <a:ext cx="832390" cy="968454"/>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0" descr="Metaverse Interconnected Virtual World Icon Through Virtual Reality Human  With Glasses Technology Royalty Free SVG, Cliparts, Vectors, and Stock  Illustration. Image 181173327.">
                <a:extLst>
                  <a:ext uri="{FF2B5EF4-FFF2-40B4-BE49-F238E27FC236}">
                    <a16:creationId xmlns:a16="http://schemas.microsoft.com/office/drawing/2014/main" id="{0BD5C454-B125-08E1-B6A3-13B6CE4FF81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98001" y="68830"/>
                <a:ext cx="1456440" cy="1274385"/>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12" descr="World, earth, internet, network, global, browser, globe icon - Free download">
                <a:extLst>
                  <a:ext uri="{FF2B5EF4-FFF2-40B4-BE49-F238E27FC236}">
                    <a16:creationId xmlns:a16="http://schemas.microsoft.com/office/drawing/2014/main" id="{250D5A9C-C25A-939E-B7A0-5E4DEBF6DB4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93275" y="441326"/>
                <a:ext cx="1412046" cy="1412046"/>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16" descr="people 3d icon 24240122 PNG">
                <a:extLst>
                  <a:ext uri="{FF2B5EF4-FFF2-40B4-BE49-F238E27FC236}">
                    <a16:creationId xmlns:a16="http://schemas.microsoft.com/office/drawing/2014/main" id="{E04EE68A-610D-D4A9-5C91-D98F54A1B43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1730" y="5030744"/>
                <a:ext cx="905583" cy="905583"/>
              </a:xfrm>
              <a:prstGeom prst="rect">
                <a:avLst/>
              </a:prstGeom>
              <a:noFill/>
              <a:extLst>
                <a:ext uri="{909E8E84-426E-40DD-AFC4-6F175D3DCCD1}">
                  <a14:hiddenFill xmlns:a14="http://schemas.microsoft.com/office/drawing/2010/main">
                    <a:solidFill>
                      <a:srgbClr val="FFFFFF"/>
                    </a:solidFill>
                  </a14:hiddenFill>
                </a:ext>
              </a:extLst>
            </p:spPr>
          </p:pic>
          <p:cxnSp>
            <p:nvCxnSpPr>
              <p:cNvPr id="58" name="Straight Arrow Connector 57">
                <a:extLst>
                  <a:ext uri="{FF2B5EF4-FFF2-40B4-BE49-F238E27FC236}">
                    <a16:creationId xmlns:a16="http://schemas.microsoft.com/office/drawing/2014/main" id="{82B7437F-9D3A-B1F5-2394-0545EECC0CC6}"/>
                  </a:ext>
                </a:extLst>
              </p:cNvPr>
              <p:cNvCxnSpPr>
                <a:cxnSpLocks/>
                <a:stCxn id="51" idx="3"/>
                <a:endCxn id="4100" idx="1"/>
              </p:cNvCxnSpPr>
              <p:nvPr/>
            </p:nvCxnSpPr>
            <p:spPr>
              <a:xfrm>
                <a:off x="987267" y="3168252"/>
                <a:ext cx="1411073" cy="6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a:extLst>
                  <a:ext uri="{FF2B5EF4-FFF2-40B4-BE49-F238E27FC236}">
                    <a16:creationId xmlns:a16="http://schemas.microsoft.com/office/drawing/2014/main" id="{428D531C-EFB7-97D2-11C6-494570BCA220}"/>
                  </a:ext>
                </a:extLst>
              </p:cNvPr>
              <p:cNvCxnSpPr>
                <a:stCxn id="51" idx="2"/>
              </p:cNvCxnSpPr>
              <p:nvPr/>
            </p:nvCxnSpPr>
            <p:spPr>
              <a:xfrm>
                <a:off x="627684" y="3527835"/>
                <a:ext cx="2103192" cy="10563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Rectangle 59">
                <a:extLst>
                  <a:ext uri="{FF2B5EF4-FFF2-40B4-BE49-F238E27FC236}">
                    <a16:creationId xmlns:a16="http://schemas.microsoft.com/office/drawing/2014/main" id="{9C7BD1B3-5497-35AE-61D2-2AE07204DCFE}"/>
                  </a:ext>
                </a:extLst>
              </p:cNvPr>
              <p:cNvSpPr/>
              <p:nvPr/>
            </p:nvSpPr>
            <p:spPr>
              <a:xfrm>
                <a:off x="1236336" y="4795997"/>
                <a:ext cx="2830969" cy="4584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effectLst/>
                    <a:latin typeface="Calibri" panose="020F0502020204030204" pitchFamily="34" charset="0"/>
                    <a:ea typeface="Calibri" panose="020F0502020204030204" pitchFamily="34" charset="0"/>
                    <a:cs typeface="Mangal" panose="02040503050203030202" pitchFamily="18" charset="0"/>
                  </a:rPr>
                  <a:t>Tourist Personal info</a:t>
                </a:r>
                <a:endParaRPr lang="en-IN" sz="1600" dirty="0"/>
              </a:p>
            </p:txBody>
          </p:sp>
          <p:sp>
            <p:nvSpPr>
              <p:cNvPr id="61" name="Rectangle 60">
                <a:extLst>
                  <a:ext uri="{FF2B5EF4-FFF2-40B4-BE49-F238E27FC236}">
                    <a16:creationId xmlns:a16="http://schemas.microsoft.com/office/drawing/2014/main" id="{07A03631-FACD-A217-D2C5-CB8F6E232BD5}"/>
                  </a:ext>
                </a:extLst>
              </p:cNvPr>
              <p:cNvSpPr/>
              <p:nvPr/>
            </p:nvSpPr>
            <p:spPr>
              <a:xfrm>
                <a:off x="4751274" y="4863584"/>
                <a:ext cx="3576276" cy="458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effectLst/>
                    <a:latin typeface="Calibri" panose="020F0502020204030204" pitchFamily="34" charset="0"/>
                    <a:ea typeface="Calibri" panose="020F0502020204030204" pitchFamily="34" charset="0"/>
                    <a:cs typeface="Mangal" panose="02040503050203030202" pitchFamily="18" charset="0"/>
                  </a:rPr>
                  <a:t>Performance of Metaverse System</a:t>
                </a:r>
                <a:endParaRPr lang="en-IN" sz="1600" dirty="0"/>
              </a:p>
            </p:txBody>
          </p:sp>
          <p:sp>
            <p:nvSpPr>
              <p:cNvPr id="62" name="Rectangle 61">
                <a:extLst>
                  <a:ext uri="{FF2B5EF4-FFF2-40B4-BE49-F238E27FC236}">
                    <a16:creationId xmlns:a16="http://schemas.microsoft.com/office/drawing/2014/main" id="{5006C2F4-AE44-29CA-6BF3-383277BB04CC}"/>
                  </a:ext>
                </a:extLst>
              </p:cNvPr>
              <p:cNvSpPr/>
              <p:nvPr/>
            </p:nvSpPr>
            <p:spPr>
              <a:xfrm>
                <a:off x="3779101" y="5723554"/>
                <a:ext cx="2103192" cy="458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effectLst/>
                    <a:latin typeface="Calibri" panose="020F0502020204030204" pitchFamily="34" charset="0"/>
                    <a:ea typeface="Calibri" panose="020F0502020204030204" pitchFamily="34" charset="0"/>
                    <a:cs typeface="Mangal" panose="02040503050203030202" pitchFamily="18" charset="0"/>
                  </a:rPr>
                  <a:t>Tourist Satisfaction</a:t>
                </a:r>
                <a:endParaRPr lang="en-IN" sz="1600" dirty="0"/>
              </a:p>
            </p:txBody>
          </p:sp>
          <p:cxnSp>
            <p:nvCxnSpPr>
              <p:cNvPr id="63" name="Straight Arrow Connector 62">
                <a:extLst>
                  <a:ext uri="{FF2B5EF4-FFF2-40B4-BE49-F238E27FC236}">
                    <a16:creationId xmlns:a16="http://schemas.microsoft.com/office/drawing/2014/main" id="{7107017B-61FB-A77D-80FB-4F4CDAD0EED3}"/>
                  </a:ext>
                </a:extLst>
              </p:cNvPr>
              <p:cNvCxnSpPr>
                <a:cxnSpLocks/>
                <a:stCxn id="60" idx="2"/>
              </p:cNvCxnSpPr>
              <p:nvPr/>
            </p:nvCxnSpPr>
            <p:spPr>
              <a:xfrm>
                <a:off x="2651821" y="5254442"/>
                <a:ext cx="1281359" cy="4584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96" name="Straight Arrow Connector 4095">
                <a:extLst>
                  <a:ext uri="{FF2B5EF4-FFF2-40B4-BE49-F238E27FC236}">
                    <a16:creationId xmlns:a16="http://schemas.microsoft.com/office/drawing/2014/main" id="{3526570C-4A3D-45E5-1CD4-C463178985AD}"/>
                  </a:ext>
                </a:extLst>
              </p:cNvPr>
              <p:cNvCxnSpPr>
                <a:cxnSpLocks/>
                <a:stCxn id="60" idx="3"/>
                <a:endCxn id="61" idx="1"/>
              </p:cNvCxnSpPr>
              <p:nvPr/>
            </p:nvCxnSpPr>
            <p:spPr>
              <a:xfrm>
                <a:off x="4067305" y="5025219"/>
                <a:ext cx="683969" cy="67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97" name="Straight Arrow Connector 4096">
                <a:extLst>
                  <a:ext uri="{FF2B5EF4-FFF2-40B4-BE49-F238E27FC236}">
                    <a16:creationId xmlns:a16="http://schemas.microsoft.com/office/drawing/2014/main" id="{F67FB400-5643-1511-9D62-CCC4D7D8D732}"/>
                  </a:ext>
                </a:extLst>
              </p:cNvPr>
              <p:cNvCxnSpPr>
                <a:cxnSpLocks/>
                <a:stCxn id="61" idx="2"/>
              </p:cNvCxnSpPr>
              <p:nvPr/>
            </p:nvCxnSpPr>
            <p:spPr>
              <a:xfrm flipH="1">
                <a:off x="5039196" y="5322030"/>
                <a:ext cx="1500217" cy="458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99" name="Straight Arrow Connector 4098">
                <a:extLst>
                  <a:ext uri="{FF2B5EF4-FFF2-40B4-BE49-F238E27FC236}">
                    <a16:creationId xmlns:a16="http://schemas.microsoft.com/office/drawing/2014/main" id="{36BEAAFB-6828-F512-CABF-C8E7FA98F596}"/>
                  </a:ext>
                </a:extLst>
              </p:cNvPr>
              <p:cNvCxnSpPr>
                <a:cxnSpLocks/>
                <a:stCxn id="50" idx="1"/>
                <a:endCxn id="61" idx="3"/>
              </p:cNvCxnSpPr>
              <p:nvPr/>
            </p:nvCxnSpPr>
            <p:spPr>
              <a:xfrm flipH="1" flipV="1">
                <a:off x="8327550" y="5092808"/>
                <a:ext cx="683969" cy="2736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00" name="Rectangle 4099">
                <a:extLst>
                  <a:ext uri="{FF2B5EF4-FFF2-40B4-BE49-F238E27FC236}">
                    <a16:creationId xmlns:a16="http://schemas.microsoft.com/office/drawing/2014/main" id="{302CA8AA-7BDF-7C69-E03E-2C2E33622E94}"/>
                  </a:ext>
                </a:extLst>
              </p:cNvPr>
              <p:cNvSpPr/>
              <p:nvPr/>
            </p:nvSpPr>
            <p:spPr>
              <a:xfrm>
                <a:off x="2398340" y="2945727"/>
                <a:ext cx="2103192" cy="4584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dirty="0">
                    <a:effectLst/>
                    <a:latin typeface="Calibri" panose="020F0502020204030204" pitchFamily="34" charset="0"/>
                    <a:ea typeface="Calibri" panose="020F0502020204030204" pitchFamily="34" charset="0"/>
                    <a:cs typeface="Mangal" panose="02040503050203030202" pitchFamily="18" charset="0"/>
                  </a:rPr>
                  <a:t>Login page</a:t>
                </a:r>
                <a:endParaRPr lang="en-IN" dirty="0"/>
              </a:p>
            </p:txBody>
          </p:sp>
          <p:sp>
            <p:nvSpPr>
              <p:cNvPr id="4101" name="Rectangle 4100">
                <a:extLst>
                  <a:ext uri="{FF2B5EF4-FFF2-40B4-BE49-F238E27FC236}">
                    <a16:creationId xmlns:a16="http://schemas.microsoft.com/office/drawing/2014/main" id="{CE4B5CD5-782C-DF46-CEDE-B4761F5CC0BE}"/>
                  </a:ext>
                </a:extLst>
              </p:cNvPr>
              <p:cNvSpPr/>
              <p:nvPr/>
            </p:nvSpPr>
            <p:spPr>
              <a:xfrm>
                <a:off x="2398341" y="2236235"/>
                <a:ext cx="2103192" cy="4584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dirty="0">
                    <a:effectLst/>
                    <a:latin typeface="Calibri" panose="020F0502020204030204" pitchFamily="34" charset="0"/>
                    <a:ea typeface="Calibri" panose="020F0502020204030204" pitchFamily="34" charset="0"/>
                    <a:cs typeface="Mangal" panose="02040503050203030202" pitchFamily="18" charset="0"/>
                  </a:rPr>
                  <a:t>WEB</a:t>
                </a:r>
                <a:endParaRPr lang="en-IN" dirty="0"/>
              </a:p>
            </p:txBody>
          </p:sp>
          <p:sp>
            <p:nvSpPr>
              <p:cNvPr id="4102" name="Rectangle 4101">
                <a:extLst>
                  <a:ext uri="{FF2B5EF4-FFF2-40B4-BE49-F238E27FC236}">
                    <a16:creationId xmlns:a16="http://schemas.microsoft.com/office/drawing/2014/main" id="{257FE8E2-5CDA-9DE8-49BE-8432A25AE9D8}"/>
                  </a:ext>
                </a:extLst>
              </p:cNvPr>
              <p:cNvSpPr/>
              <p:nvPr/>
            </p:nvSpPr>
            <p:spPr>
              <a:xfrm>
                <a:off x="4939336" y="1524941"/>
                <a:ext cx="2103192" cy="458445"/>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dirty="0">
                    <a:effectLst/>
                    <a:latin typeface="Calibri" panose="020F0502020204030204" pitchFamily="34" charset="0"/>
                    <a:ea typeface="Calibri" panose="020F0502020204030204" pitchFamily="34" charset="0"/>
                    <a:cs typeface="Mangal" panose="02040503050203030202" pitchFamily="18" charset="0"/>
                  </a:rPr>
                  <a:t>User Profile</a:t>
                </a:r>
                <a:endParaRPr lang="en-IN" dirty="0"/>
              </a:p>
            </p:txBody>
          </p:sp>
          <p:pic>
            <p:nvPicPr>
              <p:cNvPr id="4103" name="Picture 14" descr="Html file, html web page, internet document, web html, xml file icon -  Download on Iconfinder">
                <a:extLst>
                  <a:ext uri="{FF2B5EF4-FFF2-40B4-BE49-F238E27FC236}">
                    <a16:creationId xmlns:a16="http://schemas.microsoft.com/office/drawing/2014/main" id="{6BBFBF03-3D5D-20FC-BB7F-00CB90D4EC7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41588" y="2032996"/>
                <a:ext cx="694470" cy="694470"/>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14" descr="Html file, html web page, internet document, web html, xml file icon -  Download on Iconfinder">
                <a:extLst>
                  <a:ext uri="{FF2B5EF4-FFF2-40B4-BE49-F238E27FC236}">
                    <a16:creationId xmlns:a16="http://schemas.microsoft.com/office/drawing/2014/main" id="{E254C69E-1F27-47DC-16EB-587C53E026A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41605" y="2010791"/>
                <a:ext cx="694470" cy="694470"/>
              </a:xfrm>
              <a:prstGeom prst="rect">
                <a:avLst/>
              </a:prstGeom>
              <a:noFill/>
              <a:extLst>
                <a:ext uri="{909E8E84-426E-40DD-AFC4-6F175D3DCCD1}">
                  <a14:hiddenFill xmlns:a14="http://schemas.microsoft.com/office/drawing/2010/main">
                    <a:solidFill>
                      <a:srgbClr val="FFFFFF"/>
                    </a:solidFill>
                  </a14:hiddenFill>
                </a:ext>
              </a:extLst>
            </p:spPr>
          </p:pic>
          <p:pic>
            <p:nvPicPr>
              <p:cNvPr id="4105" name="Picture 14" descr="Html file, html web page, internet document, web html, xml file icon -  Download on Iconfinder">
                <a:extLst>
                  <a:ext uri="{FF2B5EF4-FFF2-40B4-BE49-F238E27FC236}">
                    <a16:creationId xmlns:a16="http://schemas.microsoft.com/office/drawing/2014/main" id="{5BF5001D-5B6F-2D50-0997-796E73B5901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376473" y="2032996"/>
                <a:ext cx="694470" cy="694470"/>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4" descr="Html file, html web page, internet document, web html, xml file icon -  Download on Iconfinder">
                <a:extLst>
                  <a:ext uri="{FF2B5EF4-FFF2-40B4-BE49-F238E27FC236}">
                    <a16:creationId xmlns:a16="http://schemas.microsoft.com/office/drawing/2014/main" id="{D1F67D8D-F2F4-687F-151F-AE9D80DDE06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276490" y="2032996"/>
                <a:ext cx="694470" cy="694470"/>
              </a:xfrm>
              <a:prstGeom prst="rect">
                <a:avLst/>
              </a:prstGeom>
              <a:noFill/>
              <a:extLst>
                <a:ext uri="{909E8E84-426E-40DD-AFC4-6F175D3DCCD1}">
                  <a14:hiddenFill xmlns:a14="http://schemas.microsoft.com/office/drawing/2010/main">
                    <a:solidFill>
                      <a:srgbClr val="FFFFFF"/>
                    </a:solidFill>
                  </a14:hiddenFill>
                </a:ext>
              </a:extLst>
            </p:spPr>
          </p:pic>
          <p:cxnSp>
            <p:nvCxnSpPr>
              <p:cNvPr id="4107" name="Straight Arrow Connector 4106">
                <a:extLst>
                  <a:ext uri="{FF2B5EF4-FFF2-40B4-BE49-F238E27FC236}">
                    <a16:creationId xmlns:a16="http://schemas.microsoft.com/office/drawing/2014/main" id="{2E482384-00B2-1C0D-A234-93A5962FF6EB}"/>
                  </a:ext>
                </a:extLst>
              </p:cNvPr>
              <p:cNvCxnSpPr>
                <a:stCxn id="53" idx="3"/>
                <a:endCxn id="4102" idx="1"/>
              </p:cNvCxnSpPr>
              <p:nvPr/>
            </p:nvCxnSpPr>
            <p:spPr>
              <a:xfrm>
                <a:off x="3826630" y="1505788"/>
                <a:ext cx="1112706" cy="2483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08" name="Straight Arrow Connector 4107">
                <a:extLst>
                  <a:ext uri="{FF2B5EF4-FFF2-40B4-BE49-F238E27FC236}">
                    <a16:creationId xmlns:a16="http://schemas.microsoft.com/office/drawing/2014/main" id="{19C085CE-F88A-4EF8-2D41-8987B3DB79B7}"/>
                  </a:ext>
                </a:extLst>
              </p:cNvPr>
              <p:cNvCxnSpPr>
                <a:stCxn id="4100" idx="0"/>
                <a:endCxn id="4101" idx="2"/>
              </p:cNvCxnSpPr>
              <p:nvPr/>
            </p:nvCxnSpPr>
            <p:spPr>
              <a:xfrm flipV="1">
                <a:off x="3449936" y="2694680"/>
                <a:ext cx="1" cy="2510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09" name="Straight Arrow Connector 4108">
                <a:extLst>
                  <a:ext uri="{FF2B5EF4-FFF2-40B4-BE49-F238E27FC236}">
                    <a16:creationId xmlns:a16="http://schemas.microsoft.com/office/drawing/2014/main" id="{03DE16C9-50E1-0DC2-D3D1-7B262CFBDAE3}"/>
                  </a:ext>
                </a:extLst>
              </p:cNvPr>
              <p:cNvCxnSpPr>
                <a:cxnSpLocks/>
                <a:stCxn id="4101" idx="0"/>
                <a:endCxn id="53" idx="2"/>
              </p:cNvCxnSpPr>
              <p:nvPr/>
            </p:nvCxnSpPr>
            <p:spPr>
              <a:xfrm flipV="1">
                <a:off x="3449937" y="1884163"/>
                <a:ext cx="0" cy="3520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10" name="Straight Arrow Connector 4109">
                <a:extLst>
                  <a:ext uri="{FF2B5EF4-FFF2-40B4-BE49-F238E27FC236}">
                    <a16:creationId xmlns:a16="http://schemas.microsoft.com/office/drawing/2014/main" id="{AC0F6ABA-6EC9-12A3-3154-C6624216CD94}"/>
                  </a:ext>
                </a:extLst>
              </p:cNvPr>
              <p:cNvCxnSpPr>
                <a:stCxn id="52" idx="2"/>
                <a:endCxn id="53" idx="0"/>
              </p:cNvCxnSpPr>
              <p:nvPr/>
            </p:nvCxnSpPr>
            <p:spPr>
              <a:xfrm>
                <a:off x="3449937" y="815449"/>
                <a:ext cx="0" cy="3119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11" name="Straight Arrow Connector 4110">
                <a:extLst>
                  <a:ext uri="{FF2B5EF4-FFF2-40B4-BE49-F238E27FC236}">
                    <a16:creationId xmlns:a16="http://schemas.microsoft.com/office/drawing/2014/main" id="{C7C69DE2-CBF0-F21F-0C72-773AD4860646}"/>
                  </a:ext>
                </a:extLst>
              </p:cNvPr>
              <p:cNvCxnSpPr>
                <a:stCxn id="4102" idx="3"/>
                <a:endCxn id="56" idx="1"/>
              </p:cNvCxnSpPr>
              <p:nvPr/>
            </p:nvCxnSpPr>
            <p:spPr>
              <a:xfrm flipV="1">
                <a:off x="7042528" y="1147349"/>
                <a:ext cx="2150747" cy="6068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12" name="Straight Arrow Connector 4111">
                <a:extLst>
                  <a:ext uri="{FF2B5EF4-FFF2-40B4-BE49-F238E27FC236}">
                    <a16:creationId xmlns:a16="http://schemas.microsoft.com/office/drawing/2014/main" id="{5EEBCD1F-5E84-8B3B-B68A-ECB0B64FCD81}"/>
                  </a:ext>
                </a:extLst>
              </p:cNvPr>
              <p:cNvCxnSpPr>
                <a:cxnSpLocks/>
                <a:endCxn id="4103" idx="0"/>
              </p:cNvCxnSpPr>
              <p:nvPr/>
            </p:nvCxnSpPr>
            <p:spPr>
              <a:xfrm flipH="1">
                <a:off x="8888823" y="1280658"/>
                <a:ext cx="453486" cy="752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13" name="Straight Arrow Connector 4112">
                <a:extLst>
                  <a:ext uri="{FF2B5EF4-FFF2-40B4-BE49-F238E27FC236}">
                    <a16:creationId xmlns:a16="http://schemas.microsoft.com/office/drawing/2014/main" id="{C7DD5386-5EBD-BF1B-A11C-69FD448998CD}"/>
                  </a:ext>
                </a:extLst>
              </p:cNvPr>
              <p:cNvCxnSpPr>
                <a:cxnSpLocks/>
                <a:endCxn id="4104" idx="0"/>
              </p:cNvCxnSpPr>
              <p:nvPr/>
            </p:nvCxnSpPr>
            <p:spPr>
              <a:xfrm flipH="1">
                <a:off x="9788840" y="1754163"/>
                <a:ext cx="36863" cy="2566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14" name="Straight Arrow Connector 4113">
                <a:extLst>
                  <a:ext uri="{FF2B5EF4-FFF2-40B4-BE49-F238E27FC236}">
                    <a16:creationId xmlns:a16="http://schemas.microsoft.com/office/drawing/2014/main" id="{3106080D-7846-C166-A12E-29519A887A03}"/>
                  </a:ext>
                </a:extLst>
              </p:cNvPr>
              <p:cNvCxnSpPr>
                <a:cxnSpLocks/>
                <a:endCxn id="4105" idx="0"/>
              </p:cNvCxnSpPr>
              <p:nvPr/>
            </p:nvCxnSpPr>
            <p:spPr>
              <a:xfrm>
                <a:off x="10437269" y="1391583"/>
                <a:ext cx="286439" cy="6414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15" name="Straight Arrow Connector 4114">
                <a:extLst>
                  <a:ext uri="{FF2B5EF4-FFF2-40B4-BE49-F238E27FC236}">
                    <a16:creationId xmlns:a16="http://schemas.microsoft.com/office/drawing/2014/main" id="{214A25C2-22CF-0F60-676E-96CF3A4C04D5}"/>
                  </a:ext>
                </a:extLst>
              </p:cNvPr>
              <p:cNvCxnSpPr>
                <a:cxnSpLocks/>
                <a:stCxn id="56" idx="3"/>
                <a:endCxn id="4106" idx="0"/>
              </p:cNvCxnSpPr>
              <p:nvPr/>
            </p:nvCxnSpPr>
            <p:spPr>
              <a:xfrm>
                <a:off x="10605321" y="1147349"/>
                <a:ext cx="1018404" cy="8856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16" name="Rectangle 4115">
                <a:extLst>
                  <a:ext uri="{FF2B5EF4-FFF2-40B4-BE49-F238E27FC236}">
                    <a16:creationId xmlns:a16="http://schemas.microsoft.com/office/drawing/2014/main" id="{39148BA6-DDE2-8258-AB31-97843E28A7FA}"/>
                  </a:ext>
                </a:extLst>
              </p:cNvPr>
              <p:cNvSpPr/>
              <p:nvPr/>
            </p:nvSpPr>
            <p:spPr>
              <a:xfrm>
                <a:off x="8332571" y="2836214"/>
                <a:ext cx="915955" cy="273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dirty="0">
                    <a:latin typeface="Calibri" panose="020F0502020204030204" pitchFamily="34" charset="0"/>
                    <a:ea typeface="Calibri" panose="020F0502020204030204" pitchFamily="34" charset="0"/>
                    <a:cs typeface="Mangal" panose="02040503050203030202" pitchFamily="18" charset="0"/>
                  </a:rPr>
                  <a:t>Location Id</a:t>
                </a:r>
                <a:endParaRPr lang="en-IN" sz="1050" dirty="0"/>
              </a:p>
            </p:txBody>
          </p:sp>
          <p:sp>
            <p:nvSpPr>
              <p:cNvPr id="4117" name="Rectangle 4116">
                <a:extLst>
                  <a:ext uri="{FF2B5EF4-FFF2-40B4-BE49-F238E27FC236}">
                    <a16:creationId xmlns:a16="http://schemas.microsoft.com/office/drawing/2014/main" id="{2E467D26-062C-D3E2-4AEC-7E77FFF404D0}"/>
                  </a:ext>
                </a:extLst>
              </p:cNvPr>
              <p:cNvSpPr/>
              <p:nvPr/>
            </p:nvSpPr>
            <p:spPr>
              <a:xfrm>
                <a:off x="9342309" y="2801814"/>
                <a:ext cx="953934" cy="2801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dirty="0">
                    <a:latin typeface="Calibri" panose="020F0502020204030204" pitchFamily="34" charset="0"/>
                    <a:ea typeface="Calibri" panose="020F0502020204030204" pitchFamily="34" charset="0"/>
                    <a:cs typeface="Mangal" panose="02040503050203030202" pitchFamily="18" charset="0"/>
                  </a:rPr>
                  <a:t>Location Id</a:t>
                </a:r>
                <a:endParaRPr lang="en-IN" sz="1050" dirty="0"/>
              </a:p>
            </p:txBody>
          </p:sp>
          <p:sp>
            <p:nvSpPr>
              <p:cNvPr id="4118" name="Rectangle 4117">
                <a:extLst>
                  <a:ext uri="{FF2B5EF4-FFF2-40B4-BE49-F238E27FC236}">
                    <a16:creationId xmlns:a16="http://schemas.microsoft.com/office/drawing/2014/main" id="{00574D52-6E3D-45F5-CD2A-1018529F6591}"/>
                  </a:ext>
                </a:extLst>
              </p:cNvPr>
              <p:cNvSpPr/>
              <p:nvPr/>
            </p:nvSpPr>
            <p:spPr>
              <a:xfrm>
                <a:off x="10390723" y="2820203"/>
                <a:ext cx="915257" cy="2619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dirty="0">
                    <a:latin typeface="Calibri" panose="020F0502020204030204" pitchFamily="34" charset="0"/>
                    <a:ea typeface="Calibri" panose="020F0502020204030204" pitchFamily="34" charset="0"/>
                    <a:cs typeface="Mangal" panose="02040503050203030202" pitchFamily="18" charset="0"/>
                  </a:rPr>
                  <a:t>Location Id</a:t>
                </a:r>
                <a:endParaRPr lang="en-IN" sz="1050" dirty="0"/>
              </a:p>
            </p:txBody>
          </p:sp>
          <p:sp>
            <p:nvSpPr>
              <p:cNvPr id="4119" name="Rectangle 4118">
                <a:extLst>
                  <a:ext uri="{FF2B5EF4-FFF2-40B4-BE49-F238E27FC236}">
                    <a16:creationId xmlns:a16="http://schemas.microsoft.com/office/drawing/2014/main" id="{7CF70121-F15B-59E9-2E41-F03E4D21D14D}"/>
                  </a:ext>
                </a:extLst>
              </p:cNvPr>
              <p:cNvSpPr/>
              <p:nvPr/>
            </p:nvSpPr>
            <p:spPr>
              <a:xfrm>
                <a:off x="11356706" y="2780854"/>
                <a:ext cx="953934" cy="2801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dirty="0">
                    <a:latin typeface="Calibri" panose="020F0502020204030204" pitchFamily="34" charset="0"/>
                    <a:ea typeface="Calibri" panose="020F0502020204030204" pitchFamily="34" charset="0"/>
                    <a:cs typeface="Mangal" panose="02040503050203030202" pitchFamily="18" charset="0"/>
                  </a:rPr>
                  <a:t>Location Id</a:t>
                </a:r>
                <a:endParaRPr lang="en-IN" sz="1050" dirty="0"/>
              </a:p>
            </p:txBody>
          </p:sp>
          <p:sp>
            <p:nvSpPr>
              <p:cNvPr id="4120" name="Rectangle 4119">
                <a:extLst>
                  <a:ext uri="{FF2B5EF4-FFF2-40B4-BE49-F238E27FC236}">
                    <a16:creationId xmlns:a16="http://schemas.microsoft.com/office/drawing/2014/main" id="{4BC20FC8-416F-6606-2D11-FF5564A222F3}"/>
                  </a:ext>
                </a:extLst>
              </p:cNvPr>
              <p:cNvSpPr/>
              <p:nvPr/>
            </p:nvSpPr>
            <p:spPr>
              <a:xfrm>
                <a:off x="8506583" y="3289007"/>
                <a:ext cx="3584863" cy="3725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a:effectLst/>
                    <a:latin typeface="Calibri" panose="020F0502020204030204" pitchFamily="34" charset="0"/>
                    <a:ea typeface="Calibri" panose="020F0502020204030204" pitchFamily="34" charset="0"/>
                    <a:cs typeface="Mangal" panose="02040503050203030202" pitchFamily="18" charset="0"/>
                  </a:rPr>
                  <a:t>WebGL</a:t>
                </a:r>
                <a:endParaRPr lang="en-IN"/>
              </a:p>
            </p:txBody>
          </p:sp>
          <p:sp>
            <p:nvSpPr>
              <p:cNvPr id="4121" name="TextBox 4120">
                <a:extLst>
                  <a:ext uri="{FF2B5EF4-FFF2-40B4-BE49-F238E27FC236}">
                    <a16:creationId xmlns:a16="http://schemas.microsoft.com/office/drawing/2014/main" id="{6F0CBFB1-5670-63E4-1E17-C2EFBCE9993D}"/>
                  </a:ext>
                </a:extLst>
              </p:cNvPr>
              <p:cNvSpPr txBox="1"/>
              <p:nvPr/>
            </p:nvSpPr>
            <p:spPr>
              <a:xfrm>
                <a:off x="1263120" y="237400"/>
                <a:ext cx="1775911" cy="445228"/>
              </a:xfrm>
              <a:prstGeom prst="rect">
                <a:avLst/>
              </a:prstGeom>
              <a:noFill/>
            </p:spPr>
            <p:txBody>
              <a:bodyPr wrap="square">
                <a:spAutoFit/>
              </a:bodyPr>
              <a:lstStyle/>
              <a:p>
                <a:r>
                  <a:rPr lang="en-IN" sz="1800" b="1" dirty="0">
                    <a:effectLst/>
                    <a:latin typeface="Calibri" panose="020F0502020204030204" pitchFamily="34" charset="0"/>
                    <a:ea typeface="Calibri" panose="020F0502020204030204" pitchFamily="34" charset="0"/>
                    <a:cs typeface="Mangal" panose="02040503050203030202" pitchFamily="18" charset="0"/>
                  </a:rPr>
                  <a:t>METASERVER</a:t>
                </a:r>
                <a:endParaRPr lang="en-IN" b="1" dirty="0"/>
              </a:p>
            </p:txBody>
          </p:sp>
          <p:sp>
            <p:nvSpPr>
              <p:cNvPr id="4122" name="TextBox 4121">
                <a:extLst>
                  <a:ext uri="{FF2B5EF4-FFF2-40B4-BE49-F238E27FC236}">
                    <a16:creationId xmlns:a16="http://schemas.microsoft.com/office/drawing/2014/main" id="{889024A4-4FDF-B6D4-75EC-D634BD5242FB}"/>
                  </a:ext>
                </a:extLst>
              </p:cNvPr>
              <p:cNvSpPr txBox="1"/>
              <p:nvPr/>
            </p:nvSpPr>
            <p:spPr>
              <a:xfrm>
                <a:off x="3849305" y="1095992"/>
                <a:ext cx="1508513" cy="369332"/>
              </a:xfrm>
              <a:prstGeom prst="rect">
                <a:avLst/>
              </a:prstGeom>
              <a:noFill/>
            </p:spPr>
            <p:txBody>
              <a:bodyPr wrap="square">
                <a:spAutoFit/>
              </a:bodyPr>
              <a:lstStyle/>
              <a:p>
                <a:r>
                  <a:rPr lang="en-IN" sz="1800" b="1" dirty="0" err="1">
                    <a:effectLst/>
                    <a:latin typeface="Calibri" panose="020F0502020204030204" pitchFamily="34" charset="0"/>
                    <a:ea typeface="Calibri" panose="020F0502020204030204" pitchFamily="34" charset="0"/>
                    <a:cs typeface="Mangal" panose="02040503050203030202" pitchFamily="18" charset="0"/>
                  </a:rPr>
                  <a:t>MetaDB</a:t>
                </a:r>
                <a:endParaRPr lang="en-IN" b="1" dirty="0"/>
              </a:p>
            </p:txBody>
          </p:sp>
          <p:sp>
            <p:nvSpPr>
              <p:cNvPr id="4123" name="TextBox 4122">
                <a:extLst>
                  <a:ext uri="{FF2B5EF4-FFF2-40B4-BE49-F238E27FC236}">
                    <a16:creationId xmlns:a16="http://schemas.microsoft.com/office/drawing/2014/main" id="{AD1C26C6-B48E-8423-E898-8635FC6CE4ED}"/>
                  </a:ext>
                </a:extLst>
              </p:cNvPr>
              <p:cNvSpPr txBox="1"/>
              <p:nvPr/>
            </p:nvSpPr>
            <p:spPr>
              <a:xfrm>
                <a:off x="786720" y="2688748"/>
                <a:ext cx="1783615" cy="445228"/>
              </a:xfrm>
              <a:prstGeom prst="rect">
                <a:avLst/>
              </a:prstGeom>
              <a:noFill/>
            </p:spPr>
            <p:txBody>
              <a:bodyPr wrap="square">
                <a:spAutoFit/>
              </a:bodyPr>
              <a:lstStyle/>
              <a:p>
                <a:r>
                  <a:rPr lang="en-IN" sz="1800" dirty="0">
                    <a:effectLst/>
                    <a:latin typeface="Calibri" panose="020F0502020204030204" pitchFamily="34" charset="0"/>
                    <a:ea typeface="Calibri" panose="020F0502020204030204" pitchFamily="34" charset="0"/>
                    <a:cs typeface="Mangal" panose="02040503050203030202" pitchFamily="18" charset="0"/>
                  </a:rPr>
                  <a:t>HTTP request</a:t>
                </a:r>
                <a:endParaRPr lang="en-IN" b="1" dirty="0"/>
              </a:p>
            </p:txBody>
          </p:sp>
          <p:cxnSp>
            <p:nvCxnSpPr>
              <p:cNvPr id="4124" name="Connector: Curved 4123">
                <a:extLst>
                  <a:ext uri="{FF2B5EF4-FFF2-40B4-BE49-F238E27FC236}">
                    <a16:creationId xmlns:a16="http://schemas.microsoft.com/office/drawing/2014/main" id="{61465386-78E4-1419-F134-0B892BB82CC2}"/>
                  </a:ext>
                </a:extLst>
              </p:cNvPr>
              <p:cNvCxnSpPr/>
              <p:nvPr/>
            </p:nvCxnSpPr>
            <p:spPr>
              <a:xfrm rot="10800000">
                <a:off x="6468505" y="2727466"/>
                <a:ext cx="1642796" cy="1636009"/>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4125" name="Connector: Curved 4124">
                <a:extLst>
                  <a:ext uri="{FF2B5EF4-FFF2-40B4-BE49-F238E27FC236}">
                    <a16:creationId xmlns:a16="http://schemas.microsoft.com/office/drawing/2014/main" id="{6498212F-BAC7-98CB-63C7-1D9B9F4DD25E}"/>
                  </a:ext>
                </a:extLst>
              </p:cNvPr>
              <p:cNvCxnSpPr>
                <a:cxnSpLocks/>
                <a:stCxn id="4116" idx="1"/>
                <a:endCxn id="4102" idx="3"/>
              </p:cNvCxnSpPr>
              <p:nvPr/>
            </p:nvCxnSpPr>
            <p:spPr>
              <a:xfrm rot="10800000">
                <a:off x="7042528" y="1754163"/>
                <a:ext cx="1290043" cy="1218635"/>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4126" name="TextBox 4125">
                <a:extLst>
                  <a:ext uri="{FF2B5EF4-FFF2-40B4-BE49-F238E27FC236}">
                    <a16:creationId xmlns:a16="http://schemas.microsoft.com/office/drawing/2014/main" id="{81B47AB8-9EC1-45E0-8978-2D6F46633341}"/>
                  </a:ext>
                </a:extLst>
              </p:cNvPr>
              <p:cNvSpPr txBox="1"/>
              <p:nvPr/>
            </p:nvSpPr>
            <p:spPr>
              <a:xfrm>
                <a:off x="8461172" y="65774"/>
                <a:ext cx="2876251" cy="369332"/>
              </a:xfrm>
              <a:prstGeom prst="rect">
                <a:avLst/>
              </a:prstGeom>
              <a:noFill/>
            </p:spPr>
            <p:txBody>
              <a:bodyPr wrap="square">
                <a:spAutoFit/>
              </a:bodyPr>
              <a:lstStyle/>
              <a:p>
                <a:r>
                  <a:rPr lang="en-IN" sz="1800" b="1" dirty="0">
                    <a:effectLst/>
                    <a:latin typeface="Calibri" panose="020F0502020204030204" pitchFamily="34" charset="0"/>
                    <a:ea typeface="Calibri" panose="020F0502020204030204" pitchFamily="34" charset="0"/>
                    <a:cs typeface="Mangal" panose="02040503050203030202" pitchFamily="18" charset="0"/>
                  </a:rPr>
                  <a:t>VIRTUAL TOURISM WORLD</a:t>
                </a:r>
                <a:endParaRPr lang="en-IN" b="1" dirty="0"/>
              </a:p>
            </p:txBody>
          </p:sp>
          <p:sp>
            <p:nvSpPr>
              <p:cNvPr id="4127" name="TextBox 4126">
                <a:extLst>
                  <a:ext uri="{FF2B5EF4-FFF2-40B4-BE49-F238E27FC236}">
                    <a16:creationId xmlns:a16="http://schemas.microsoft.com/office/drawing/2014/main" id="{85FDF9A2-8228-CD58-A9C3-729F054FBC99}"/>
                  </a:ext>
                </a:extLst>
              </p:cNvPr>
              <p:cNvSpPr txBox="1"/>
              <p:nvPr/>
            </p:nvSpPr>
            <p:spPr>
              <a:xfrm>
                <a:off x="5316805" y="2051564"/>
                <a:ext cx="1768141" cy="2246769"/>
              </a:xfrm>
              <a:prstGeom prst="rect">
                <a:avLst/>
              </a:prstGeom>
              <a:noFill/>
            </p:spPr>
            <p:txBody>
              <a:bodyPr wrap="square">
                <a:spAutoFit/>
              </a:bodyPr>
              <a:lstStyle/>
              <a:p>
                <a:r>
                  <a:rPr lang="en-IN" sz="1400" dirty="0">
                    <a:effectLst/>
                    <a:latin typeface="Calibri" panose="020F0502020204030204" pitchFamily="34" charset="0"/>
                    <a:ea typeface="Calibri" panose="020F0502020204030204" pitchFamily="34" charset="0"/>
                    <a:cs typeface="Mangal" panose="02040503050203030202" pitchFamily="18" charset="0"/>
                  </a:rPr>
                  <a:t>Tourist History</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Location Id</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Time</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User ID</a:t>
                </a:r>
              </a:p>
              <a:p>
                <a:r>
                  <a:rPr lang="en-IN" sz="1400" dirty="0">
                    <a:latin typeface="Calibri" panose="020F0502020204030204" pitchFamily="34" charset="0"/>
                    <a:ea typeface="Calibri" panose="020F0502020204030204" pitchFamily="34" charset="0"/>
                    <a:cs typeface="Mangal" panose="02040503050203030202" pitchFamily="18" charset="0"/>
                  </a:rPr>
                  <a:t>Traveller Review</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Location Id</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Time</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User ID</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Activities</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Tourism Score</a:t>
                </a:r>
                <a:endParaRPr lang="en-IN" sz="1400" dirty="0"/>
              </a:p>
            </p:txBody>
          </p:sp>
          <p:sp>
            <p:nvSpPr>
              <p:cNvPr id="4128" name="TextBox 4127">
                <a:extLst>
                  <a:ext uri="{FF2B5EF4-FFF2-40B4-BE49-F238E27FC236}">
                    <a16:creationId xmlns:a16="http://schemas.microsoft.com/office/drawing/2014/main" id="{854BC81A-9336-B75A-AFF6-BFFEF17D83DC}"/>
                  </a:ext>
                </a:extLst>
              </p:cNvPr>
              <p:cNvSpPr txBox="1"/>
              <p:nvPr/>
            </p:nvSpPr>
            <p:spPr>
              <a:xfrm>
                <a:off x="7900217" y="3814339"/>
                <a:ext cx="1696028" cy="890456"/>
              </a:xfrm>
              <a:prstGeom prst="rect">
                <a:avLst/>
              </a:prstGeom>
              <a:noFill/>
            </p:spPr>
            <p:txBody>
              <a:bodyPr wrap="square">
                <a:spAutoFit/>
              </a:bodyPr>
              <a:lstStyle/>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3D Characters</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3D Objects</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3D Scene</a:t>
                </a:r>
              </a:p>
            </p:txBody>
          </p:sp>
          <p:sp>
            <p:nvSpPr>
              <p:cNvPr id="4129" name="TextBox 4128">
                <a:extLst>
                  <a:ext uri="{FF2B5EF4-FFF2-40B4-BE49-F238E27FC236}">
                    <a16:creationId xmlns:a16="http://schemas.microsoft.com/office/drawing/2014/main" id="{B4BA92A3-7DBD-602A-2049-43BBB466EE36}"/>
                  </a:ext>
                </a:extLst>
              </p:cNvPr>
              <p:cNvSpPr txBox="1"/>
              <p:nvPr/>
            </p:nvSpPr>
            <p:spPr>
              <a:xfrm>
                <a:off x="9448455" y="3870434"/>
                <a:ext cx="1701116" cy="890456"/>
              </a:xfrm>
              <a:prstGeom prst="rect">
                <a:avLst/>
              </a:prstGeom>
              <a:noFill/>
            </p:spPr>
            <p:txBody>
              <a:bodyPr wrap="square">
                <a:spAutoFit/>
              </a:bodyPr>
              <a:lstStyle/>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3D Characters</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3D Objects</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3D Scene</a:t>
                </a:r>
              </a:p>
            </p:txBody>
          </p:sp>
          <p:cxnSp>
            <p:nvCxnSpPr>
              <p:cNvPr id="4130" name="Straight Arrow Connector 4129">
                <a:extLst>
                  <a:ext uri="{FF2B5EF4-FFF2-40B4-BE49-F238E27FC236}">
                    <a16:creationId xmlns:a16="http://schemas.microsoft.com/office/drawing/2014/main" id="{B0DF5FE6-0C57-FC22-B769-EE804D38032A}"/>
                  </a:ext>
                </a:extLst>
              </p:cNvPr>
              <p:cNvCxnSpPr>
                <a:cxnSpLocks/>
                <a:endCxn id="4128" idx="0"/>
              </p:cNvCxnSpPr>
              <p:nvPr/>
            </p:nvCxnSpPr>
            <p:spPr>
              <a:xfrm>
                <a:off x="8695607" y="3574638"/>
                <a:ext cx="52624" cy="2397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31" name="Straight Arrow Connector 4130">
                <a:extLst>
                  <a:ext uri="{FF2B5EF4-FFF2-40B4-BE49-F238E27FC236}">
                    <a16:creationId xmlns:a16="http://schemas.microsoft.com/office/drawing/2014/main" id="{682EB7CA-D007-2777-9DB2-DA1BBF3BC72A}"/>
                  </a:ext>
                </a:extLst>
              </p:cNvPr>
              <p:cNvCxnSpPr>
                <a:cxnSpLocks/>
                <a:stCxn id="4120" idx="2"/>
                <a:endCxn id="4129" idx="0"/>
              </p:cNvCxnSpPr>
              <p:nvPr/>
            </p:nvCxnSpPr>
            <p:spPr>
              <a:xfrm flipH="1">
                <a:off x="10299014" y="3661601"/>
                <a:ext cx="1" cy="2088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32" name="Straight Arrow Connector 4131">
                <a:extLst>
                  <a:ext uri="{FF2B5EF4-FFF2-40B4-BE49-F238E27FC236}">
                    <a16:creationId xmlns:a16="http://schemas.microsoft.com/office/drawing/2014/main" id="{A59A8053-99A8-C25B-1E4D-D803B434E37B}"/>
                  </a:ext>
                </a:extLst>
              </p:cNvPr>
              <p:cNvCxnSpPr>
                <a:cxnSpLocks/>
              </p:cNvCxnSpPr>
              <p:nvPr/>
            </p:nvCxnSpPr>
            <p:spPr>
              <a:xfrm>
                <a:off x="11578382" y="3633155"/>
                <a:ext cx="0" cy="2568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4142" name="TextBox 4141">
              <a:extLst>
                <a:ext uri="{FF2B5EF4-FFF2-40B4-BE49-F238E27FC236}">
                  <a16:creationId xmlns:a16="http://schemas.microsoft.com/office/drawing/2014/main" id="{108CC7ED-F665-0015-2E28-98A1E6B3B647}"/>
                </a:ext>
              </a:extLst>
            </p:cNvPr>
            <p:cNvSpPr txBox="1"/>
            <p:nvPr/>
          </p:nvSpPr>
          <p:spPr>
            <a:xfrm>
              <a:off x="10182534" y="4401924"/>
              <a:ext cx="1484497" cy="738664"/>
            </a:xfrm>
            <a:prstGeom prst="rect">
              <a:avLst/>
            </a:prstGeom>
            <a:noFill/>
          </p:spPr>
          <p:txBody>
            <a:bodyPr wrap="square">
              <a:spAutoFit/>
            </a:bodyPr>
            <a:lstStyle/>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3D Characters</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3D Objects</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Mangal" panose="02040503050203030202" pitchFamily="18" charset="0"/>
                </a:rPr>
                <a:t>3D Scene</a:t>
              </a:r>
            </a:p>
          </p:txBody>
        </p:sp>
        <p:sp>
          <p:nvSpPr>
            <p:cNvPr id="4144" name="Rectangle 4143">
              <a:extLst>
                <a:ext uri="{FF2B5EF4-FFF2-40B4-BE49-F238E27FC236}">
                  <a16:creationId xmlns:a16="http://schemas.microsoft.com/office/drawing/2014/main" id="{3341DA3B-E655-CF95-1EC0-CBC2EAAB1977}"/>
                </a:ext>
              </a:extLst>
            </p:cNvPr>
            <p:cNvSpPr/>
            <p:nvPr/>
          </p:nvSpPr>
          <p:spPr>
            <a:xfrm>
              <a:off x="393539" y="1062995"/>
              <a:ext cx="11401064" cy="5518776"/>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grpSp>
      <p:sp>
        <p:nvSpPr>
          <p:cNvPr id="4156" name="Footer Placeholder 4155">
            <a:extLst>
              <a:ext uri="{FF2B5EF4-FFF2-40B4-BE49-F238E27FC236}">
                <a16:creationId xmlns:a16="http://schemas.microsoft.com/office/drawing/2014/main" id="{D36BDDBB-7822-336E-ACC8-251F54460B72}"/>
              </a:ext>
            </a:extLst>
          </p:cNvPr>
          <p:cNvSpPr>
            <a:spLocks noGrp="1"/>
          </p:cNvSpPr>
          <p:nvPr>
            <p:ph type="ftr" sz="quarter" idx="11"/>
          </p:nvPr>
        </p:nvSpPr>
        <p:spPr/>
        <p:txBody>
          <a:bodyPr/>
          <a:lstStyle/>
          <a:p>
            <a:r>
              <a:rPr lang="en-IN"/>
              <a:t>Meta-Tourism</a:t>
            </a:r>
          </a:p>
        </p:txBody>
      </p:sp>
      <p:sp>
        <p:nvSpPr>
          <p:cNvPr id="4157" name="Slide Number Placeholder 4156">
            <a:extLst>
              <a:ext uri="{FF2B5EF4-FFF2-40B4-BE49-F238E27FC236}">
                <a16:creationId xmlns:a16="http://schemas.microsoft.com/office/drawing/2014/main" id="{EA924AD3-AFC7-88B2-88D4-9FEF3DE2C421}"/>
              </a:ext>
            </a:extLst>
          </p:cNvPr>
          <p:cNvSpPr>
            <a:spLocks noGrp="1"/>
          </p:cNvSpPr>
          <p:nvPr>
            <p:ph type="sldNum" sz="quarter" idx="12"/>
          </p:nvPr>
        </p:nvSpPr>
        <p:spPr/>
        <p:txBody>
          <a:bodyPr/>
          <a:lstStyle/>
          <a:p>
            <a:fld id="{43321D51-0D33-47F4-8293-F27514F5326D}" type="slidenum">
              <a:rPr lang="en-IN" smtClean="0"/>
              <a:t>8</a:t>
            </a:fld>
            <a:endParaRPr lang="en-IN"/>
          </a:p>
        </p:txBody>
      </p:sp>
    </p:spTree>
    <p:extLst>
      <p:ext uri="{BB962C8B-B14F-4D97-AF65-F5344CB8AC3E}">
        <p14:creationId xmlns:p14="http://schemas.microsoft.com/office/powerpoint/2010/main" val="3722880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Online status: If you build a virtual world of fashion, will they come? -  The Japan Times">
            <a:extLst>
              <a:ext uri="{FF2B5EF4-FFF2-40B4-BE49-F238E27FC236}">
                <a16:creationId xmlns:a16="http://schemas.microsoft.com/office/drawing/2014/main" id="{DF7AF493-AAFC-E1F5-274C-A574726354B8}"/>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6309118" y="3429000"/>
            <a:ext cx="5524237" cy="3093573"/>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328BBA0-B6F2-34C1-608A-E46695E58F25}"/>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Algorithm &amp; Other relevance</a:t>
            </a:r>
          </a:p>
          <a:p>
            <a:endParaRPr lang="en-US" b="1" dirty="0"/>
          </a:p>
        </p:txBody>
      </p:sp>
      <p:sp>
        <p:nvSpPr>
          <p:cNvPr id="4" name="TextBox 3">
            <a:extLst>
              <a:ext uri="{FF2B5EF4-FFF2-40B4-BE49-F238E27FC236}">
                <a16:creationId xmlns:a16="http://schemas.microsoft.com/office/drawing/2014/main" id="{5221BAD9-3335-23B4-1243-3689A1851BF4}"/>
              </a:ext>
            </a:extLst>
          </p:cNvPr>
          <p:cNvSpPr txBox="1"/>
          <p:nvPr/>
        </p:nvSpPr>
        <p:spPr>
          <a:xfrm>
            <a:off x="681318" y="1062995"/>
            <a:ext cx="11089341" cy="1508105"/>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AI algorithm in the Metaverse:</a:t>
            </a:r>
          </a:p>
          <a:p>
            <a:pPr algn="just"/>
            <a:r>
              <a:rPr lang="en-US" dirty="0">
                <a:latin typeface="Times New Roman" panose="02020603050405020304" pitchFamily="18" charset="0"/>
                <a:cs typeface="Times New Roman" panose="02020603050405020304" pitchFamily="18" charset="0"/>
              </a:rPr>
              <a:t>In the metaverse, an artificial intelligence (AI) algorithm is a collection of rules that uses machine learning and artificial intelligence to evaluate user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and offer </a:t>
            </a:r>
            <a:r>
              <a:rPr lang="en-US" dirty="0" err="1">
                <a:latin typeface="Times New Roman" panose="02020603050405020304" pitchFamily="18" charset="0"/>
                <a:cs typeface="Times New Roman" panose="02020603050405020304" pitchFamily="18" charset="0"/>
              </a:rPr>
              <a:t>individualised</a:t>
            </a:r>
            <a:r>
              <a:rPr lang="en-US" dirty="0">
                <a:latin typeface="Times New Roman" panose="02020603050405020304" pitchFamily="18" charset="0"/>
                <a:cs typeface="Times New Roman" panose="02020603050405020304" pitchFamily="18" charset="0"/>
              </a:rPr>
              <a:t> recommendations, speed up transactions, and improve the user experience. Using web3 and blockchain technology, these algorithms are created to operate in a </a:t>
            </a:r>
            <a:r>
              <a:rPr lang="en-US" dirty="0" err="1">
                <a:latin typeface="Times New Roman" panose="02020603050405020304" pitchFamily="18" charset="0"/>
                <a:cs typeface="Times New Roman" panose="02020603050405020304" pitchFamily="18" charset="0"/>
              </a:rPr>
              <a:t>decentralised</a:t>
            </a:r>
            <a:r>
              <a:rPr lang="en-US" dirty="0">
                <a:latin typeface="Times New Roman" panose="02020603050405020304" pitchFamily="18" charset="0"/>
                <a:cs typeface="Times New Roman" panose="02020603050405020304" pitchFamily="18" charset="0"/>
              </a:rPr>
              <a:t> and safe environment.</a:t>
            </a:r>
          </a:p>
        </p:txBody>
      </p:sp>
      <p:sp>
        <p:nvSpPr>
          <p:cNvPr id="6" name="TextBox 5">
            <a:extLst>
              <a:ext uri="{FF2B5EF4-FFF2-40B4-BE49-F238E27FC236}">
                <a16:creationId xmlns:a16="http://schemas.microsoft.com/office/drawing/2014/main" id="{9CE117F5-E9F0-659C-4F5C-8F52B3EC06A1}"/>
              </a:ext>
            </a:extLst>
          </p:cNvPr>
          <p:cNvSpPr txBox="1"/>
          <p:nvPr/>
        </p:nvSpPr>
        <p:spPr>
          <a:xfrm>
            <a:off x="551329" y="2734171"/>
            <a:ext cx="11089341" cy="923330"/>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Graphics Rendering Algorithms:</a:t>
            </a:r>
            <a:endParaRPr lang="en-US" dirty="0"/>
          </a:p>
          <a:p>
            <a:r>
              <a:rPr lang="en-US" dirty="0"/>
              <a:t>Real-time rendering algorithms are essential for creating realistic and immersive virtual environments. Techniques such as ray tracing and rasterization are employed to generate high quality graphics in real-time.</a:t>
            </a:r>
            <a:endParaRPr lang="en-IN" dirty="0"/>
          </a:p>
        </p:txBody>
      </p:sp>
      <p:sp>
        <p:nvSpPr>
          <p:cNvPr id="8" name="TextBox 7">
            <a:extLst>
              <a:ext uri="{FF2B5EF4-FFF2-40B4-BE49-F238E27FC236}">
                <a16:creationId xmlns:a16="http://schemas.microsoft.com/office/drawing/2014/main" id="{9D554571-4694-F3BA-D6D5-D6BAF0FF086A}"/>
              </a:ext>
            </a:extLst>
          </p:cNvPr>
          <p:cNvSpPr txBox="1"/>
          <p:nvPr/>
        </p:nvSpPr>
        <p:spPr>
          <a:xfrm>
            <a:off x="681319" y="3694967"/>
            <a:ext cx="8220634" cy="2862322"/>
          </a:xfrm>
          <a:prstGeom prst="rect">
            <a:avLst/>
          </a:prstGeom>
          <a:noFill/>
        </p:spPr>
        <p:txBody>
          <a:bodyPr wrap="square">
            <a:spAutoFit/>
          </a:bodyPr>
          <a:lstStyle/>
          <a:p>
            <a:pPr marL="285750" indent="-285750" algn="just">
              <a:buFont typeface="Courier New" panose="02070309020205020404" pitchFamily="49" charset="0"/>
              <a:buChar char="o"/>
            </a:pPr>
            <a:r>
              <a:rPr lang="en-IN" b="1" dirty="0"/>
              <a:t>Rasterization:</a:t>
            </a:r>
          </a:p>
          <a:p>
            <a:pPr algn="just"/>
            <a:r>
              <a:rPr lang="en-IN" dirty="0"/>
              <a:t>Converts vector graphics or 3D models into pixel-based images.</a:t>
            </a:r>
          </a:p>
          <a:p>
            <a:pPr marL="285750" indent="-285750" algn="just">
              <a:buFont typeface="Courier New" panose="02070309020205020404" pitchFamily="49" charset="0"/>
              <a:buChar char="o"/>
            </a:pPr>
            <a:r>
              <a:rPr lang="en-IN" b="1" dirty="0"/>
              <a:t>Ray Tracing:</a:t>
            </a:r>
          </a:p>
          <a:p>
            <a:pPr algn="just"/>
            <a:r>
              <a:rPr lang="en-IN" dirty="0"/>
              <a:t>Simulates realistic lighting, shadows, and reflections by tracing the path of light rays.</a:t>
            </a:r>
          </a:p>
          <a:p>
            <a:pPr marL="285750" indent="-285750" algn="just">
              <a:buFont typeface="Courier New" panose="02070309020205020404" pitchFamily="49" charset="0"/>
              <a:buChar char="o"/>
            </a:pPr>
            <a:r>
              <a:rPr lang="en-IN" b="1" dirty="0"/>
              <a:t>Shading:</a:t>
            </a:r>
          </a:p>
          <a:p>
            <a:pPr algn="just"/>
            <a:r>
              <a:rPr lang="en-IN" dirty="0"/>
              <a:t>Determines pixel </a:t>
            </a:r>
            <a:r>
              <a:rPr lang="en-IN" dirty="0" err="1"/>
              <a:t>color</a:t>
            </a:r>
            <a:r>
              <a:rPr lang="en-IN" dirty="0"/>
              <a:t> and brightness based on light interaction with surfaces.</a:t>
            </a:r>
          </a:p>
          <a:p>
            <a:pPr marL="285750" indent="-285750" algn="just">
              <a:buFont typeface="Courier New" panose="02070309020205020404" pitchFamily="49" charset="0"/>
              <a:buChar char="o"/>
            </a:pPr>
            <a:r>
              <a:rPr lang="en-IN" b="1" dirty="0"/>
              <a:t>Hidden Surface Removal:</a:t>
            </a:r>
          </a:p>
          <a:p>
            <a:pPr algn="just"/>
            <a:r>
              <a:rPr lang="en-IN" dirty="0"/>
              <a:t>Identifies and renders only visible parts of a 3D scene.</a:t>
            </a:r>
          </a:p>
          <a:p>
            <a:pPr marL="285750" indent="-285750" algn="just">
              <a:buFont typeface="Courier New" panose="02070309020205020404" pitchFamily="49" charset="0"/>
              <a:buChar char="o"/>
            </a:pPr>
            <a:r>
              <a:rPr lang="en-IN" b="1" dirty="0"/>
              <a:t>Anti-Aliasing:</a:t>
            </a:r>
          </a:p>
          <a:p>
            <a:pPr algn="just"/>
            <a:r>
              <a:rPr lang="en-IN" dirty="0"/>
              <a:t>Minimizes jagged edges and visual artifacts for smoother images.</a:t>
            </a:r>
          </a:p>
        </p:txBody>
      </p:sp>
      <p:pic>
        <p:nvPicPr>
          <p:cNvPr id="6146" name="Picture 2" descr="Algorithm Icon Vector Art, Icons, and Graphics for Free Download">
            <a:extLst>
              <a:ext uri="{FF2B5EF4-FFF2-40B4-BE49-F238E27FC236}">
                <a16:creationId xmlns:a16="http://schemas.microsoft.com/office/drawing/2014/main" id="{DB57A4B7-F421-0B35-4BED-B47BAB6515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946" y="228929"/>
            <a:ext cx="786766" cy="786766"/>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C3C1CD48-BD21-EB69-55C4-68FF146ED11C}"/>
              </a:ext>
            </a:extLst>
          </p:cNvPr>
          <p:cNvSpPr>
            <a:spLocks noGrp="1"/>
          </p:cNvSpPr>
          <p:nvPr>
            <p:ph type="ftr" sz="quarter" idx="11"/>
          </p:nvPr>
        </p:nvSpPr>
        <p:spPr/>
        <p:txBody>
          <a:bodyPr/>
          <a:lstStyle/>
          <a:p>
            <a:r>
              <a:rPr lang="en-IN"/>
              <a:t>Meta-Tourism</a:t>
            </a:r>
          </a:p>
        </p:txBody>
      </p:sp>
      <p:sp>
        <p:nvSpPr>
          <p:cNvPr id="5" name="Slide Number Placeholder 4">
            <a:extLst>
              <a:ext uri="{FF2B5EF4-FFF2-40B4-BE49-F238E27FC236}">
                <a16:creationId xmlns:a16="http://schemas.microsoft.com/office/drawing/2014/main" id="{4AA69CAC-420E-2B1F-30CF-E0BE4659AC60}"/>
              </a:ext>
            </a:extLst>
          </p:cNvPr>
          <p:cNvSpPr>
            <a:spLocks noGrp="1"/>
          </p:cNvSpPr>
          <p:nvPr>
            <p:ph type="sldNum" sz="quarter" idx="12"/>
          </p:nvPr>
        </p:nvSpPr>
        <p:spPr/>
        <p:txBody>
          <a:bodyPr/>
          <a:lstStyle/>
          <a:p>
            <a:fld id="{43321D51-0D33-47F4-8293-F27514F5326D}" type="slidenum">
              <a:rPr lang="en-IN" smtClean="0"/>
              <a:t>9</a:t>
            </a:fld>
            <a:endParaRPr lang="en-IN"/>
          </a:p>
        </p:txBody>
      </p:sp>
    </p:spTree>
    <p:extLst>
      <p:ext uri="{BB962C8B-B14F-4D97-AF65-F5344CB8AC3E}">
        <p14:creationId xmlns:p14="http://schemas.microsoft.com/office/powerpoint/2010/main" val="709921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Online status: If you build a virtual world of fashion, will they come? -  The Japan Times">
            <a:extLst>
              <a:ext uri="{FF2B5EF4-FFF2-40B4-BE49-F238E27FC236}">
                <a16:creationId xmlns:a16="http://schemas.microsoft.com/office/drawing/2014/main" id="{11E064FA-76C5-41C0-AABD-9401981F5199}"/>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6552186" y="3262777"/>
            <a:ext cx="5524237" cy="3093573"/>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328BBA0-B6F2-34C1-608A-E46695E58F25}"/>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Algorithm &amp; Other relevance</a:t>
            </a:r>
          </a:p>
          <a:p>
            <a:endParaRPr lang="en-US" b="1" dirty="0"/>
          </a:p>
        </p:txBody>
      </p:sp>
      <p:sp>
        <p:nvSpPr>
          <p:cNvPr id="4" name="TextBox 3">
            <a:extLst>
              <a:ext uri="{FF2B5EF4-FFF2-40B4-BE49-F238E27FC236}">
                <a16:creationId xmlns:a16="http://schemas.microsoft.com/office/drawing/2014/main" id="{5221BAD9-3335-23B4-1243-3689A1851BF4}"/>
              </a:ext>
            </a:extLst>
          </p:cNvPr>
          <p:cNvSpPr txBox="1"/>
          <p:nvPr/>
        </p:nvSpPr>
        <p:spPr>
          <a:xfrm>
            <a:off x="551329" y="1699489"/>
            <a:ext cx="11089341" cy="3970318"/>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Networking Algorithms:</a:t>
            </a:r>
          </a:p>
          <a:p>
            <a:r>
              <a:rPr lang="en-US" dirty="0">
                <a:latin typeface="Times New Roman" panose="02020603050405020304" pitchFamily="18" charset="0"/>
                <a:cs typeface="Times New Roman" panose="02020603050405020304" pitchFamily="18" charset="0"/>
              </a:rPr>
              <a:t>In multiplayer metaverse environments, networking algorithms are crucial for ensuring smooth communication between users. This includes algorithms for data synchronization, latency reduction, and load balancing.</a:t>
            </a:r>
          </a:p>
          <a:p>
            <a:endParaRPr lang="en-US"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Social Interaction Algorithms:</a:t>
            </a:r>
            <a:endParaRPr lang="en-US" dirty="0">
              <a:latin typeface="Times New Roman" panose="02020603050405020304" pitchFamily="18" charset="0"/>
              <a:cs typeface="Times New Roman" panose="02020603050405020304" pitchFamily="18" charset="0"/>
            </a:endParaRPr>
          </a:p>
          <a:p>
            <a:pPr algn="l"/>
            <a:r>
              <a:rPr lang="en-US" b="0" i="0" dirty="0">
                <a:effectLst/>
                <a:latin typeface="Times New Roman" panose="02020603050405020304" pitchFamily="18" charset="0"/>
                <a:cs typeface="Times New Roman" panose="02020603050405020304" pitchFamily="18" charset="0"/>
              </a:rPr>
              <a:t>Algorithms are used to facilitate social interactions within the metaverse, such as matchmaking algorithms for connecting users with similar interests, chat algorithms for real-time communication, and algorithms for managing virtual economies.</a:t>
            </a:r>
          </a:p>
          <a:p>
            <a:pPr algn="l"/>
            <a:endParaRPr lang="en-US" b="0" i="0" dirty="0">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Navigation Algorithms:</a:t>
            </a:r>
          </a:p>
          <a:p>
            <a:pPr algn="l"/>
            <a:r>
              <a:rPr lang="en-US" b="0" i="0" dirty="0">
                <a:effectLst/>
                <a:latin typeface="Times New Roman" panose="02020603050405020304" pitchFamily="18" charset="0"/>
                <a:cs typeface="Times New Roman" panose="02020603050405020304" pitchFamily="18" charset="0"/>
              </a:rPr>
              <a:t>Navigation algorithms are essential for both characters and users to move seamlessly within the virtual environment. Pathfinding algorithms help characters find optimal routes, while teleportation or locomotion algorithms enhance the user's navigation experience.</a:t>
            </a:r>
          </a:p>
          <a:p>
            <a:endParaRPr lang="en-US" dirty="0">
              <a:latin typeface="Times New Roman" panose="02020603050405020304" pitchFamily="18" charset="0"/>
              <a:cs typeface="Times New Roman" panose="02020603050405020304" pitchFamily="18" charset="0"/>
            </a:endParaRPr>
          </a:p>
        </p:txBody>
      </p:sp>
      <p:pic>
        <p:nvPicPr>
          <p:cNvPr id="3" name="Picture 2" descr="Algorithm Icon Vector Art, Icons, and Graphics for Free Download">
            <a:extLst>
              <a:ext uri="{FF2B5EF4-FFF2-40B4-BE49-F238E27FC236}">
                <a16:creationId xmlns:a16="http://schemas.microsoft.com/office/drawing/2014/main" id="{F9CA0E3B-C196-93E4-087B-7F03B7E831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946" y="228929"/>
            <a:ext cx="786766" cy="78676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0861608C-557E-E832-5FDF-9ABF863CF18A}"/>
              </a:ext>
            </a:extLst>
          </p:cNvPr>
          <p:cNvSpPr>
            <a:spLocks noGrp="1"/>
          </p:cNvSpPr>
          <p:nvPr>
            <p:ph type="ftr" sz="quarter" idx="11"/>
          </p:nvPr>
        </p:nvSpPr>
        <p:spPr/>
        <p:txBody>
          <a:bodyPr/>
          <a:lstStyle/>
          <a:p>
            <a:r>
              <a:rPr lang="en-IN"/>
              <a:t>Meta-Tourism</a:t>
            </a:r>
          </a:p>
        </p:txBody>
      </p:sp>
      <p:sp>
        <p:nvSpPr>
          <p:cNvPr id="6" name="Slide Number Placeholder 5">
            <a:extLst>
              <a:ext uri="{FF2B5EF4-FFF2-40B4-BE49-F238E27FC236}">
                <a16:creationId xmlns:a16="http://schemas.microsoft.com/office/drawing/2014/main" id="{E1D58585-F314-7708-5929-50684AB6E667}"/>
              </a:ext>
            </a:extLst>
          </p:cNvPr>
          <p:cNvSpPr>
            <a:spLocks noGrp="1"/>
          </p:cNvSpPr>
          <p:nvPr>
            <p:ph type="sldNum" sz="quarter" idx="12"/>
          </p:nvPr>
        </p:nvSpPr>
        <p:spPr/>
        <p:txBody>
          <a:bodyPr/>
          <a:lstStyle/>
          <a:p>
            <a:fld id="{43321D51-0D33-47F4-8293-F27514F5326D}" type="slidenum">
              <a:rPr lang="en-IN" smtClean="0"/>
              <a:t>10</a:t>
            </a:fld>
            <a:endParaRPr lang="en-IN"/>
          </a:p>
        </p:txBody>
      </p:sp>
    </p:spTree>
    <p:extLst>
      <p:ext uri="{BB962C8B-B14F-4D97-AF65-F5344CB8AC3E}">
        <p14:creationId xmlns:p14="http://schemas.microsoft.com/office/powerpoint/2010/main" val="3061145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15 Metaverse Companies to Know | Built In">
            <a:extLst>
              <a:ext uri="{FF2B5EF4-FFF2-40B4-BE49-F238E27FC236}">
                <a16:creationId xmlns:a16="http://schemas.microsoft.com/office/drawing/2014/main" id="{D8C787A8-03C7-734B-DE71-79FA53ADC090}"/>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5966011" y="790970"/>
            <a:ext cx="6341174" cy="3329117"/>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Mathematical Modeling</a:t>
            </a:r>
          </a:p>
          <a:p>
            <a:endParaRPr lang="en-US" b="1" dirty="0"/>
          </a:p>
        </p:txBody>
      </p:sp>
      <p:sp>
        <p:nvSpPr>
          <p:cNvPr id="4" name="TextBox 3">
            <a:extLst>
              <a:ext uri="{FF2B5EF4-FFF2-40B4-BE49-F238E27FC236}">
                <a16:creationId xmlns:a16="http://schemas.microsoft.com/office/drawing/2014/main" id="{22CAE79A-A49C-B921-D216-EC160E70258C}"/>
              </a:ext>
            </a:extLst>
          </p:cNvPr>
          <p:cNvSpPr txBox="1"/>
          <p:nvPr/>
        </p:nvSpPr>
        <p:spPr>
          <a:xfrm>
            <a:off x="461682" y="1128591"/>
            <a:ext cx="11268636" cy="1200329"/>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3D Transforms:</a:t>
            </a:r>
          </a:p>
          <a:p>
            <a:pPr algn="just"/>
            <a:r>
              <a:rPr lang="en-IN" dirty="0">
                <a:latin typeface="Times New Roman" panose="02020603050405020304" pitchFamily="18" charset="0"/>
                <a:cs typeface="Times New Roman" panose="02020603050405020304" pitchFamily="18" charset="0"/>
              </a:rPr>
              <a:t>Now we come to transforms in three dimensions, where we apply the same reasoning as in two dimensions. Scaling and translation are basically the same, but where in 2D we rotated a shape about a point, in 3D we rotate an object about an axis.</a:t>
            </a:r>
          </a:p>
        </p:txBody>
      </p:sp>
      <p:sp>
        <p:nvSpPr>
          <p:cNvPr id="8" name="TextBox 7">
            <a:extLst>
              <a:ext uri="{FF2B5EF4-FFF2-40B4-BE49-F238E27FC236}">
                <a16:creationId xmlns:a16="http://schemas.microsoft.com/office/drawing/2014/main" id="{836BE4BB-2FC0-6826-D10B-06A384907BC7}"/>
              </a:ext>
            </a:extLst>
          </p:cNvPr>
          <p:cNvSpPr txBox="1"/>
          <p:nvPr/>
        </p:nvSpPr>
        <p:spPr>
          <a:xfrm>
            <a:off x="461682" y="2670118"/>
            <a:ext cx="11008659" cy="677108"/>
          </a:xfrm>
          <a:prstGeom prst="rect">
            <a:avLst/>
          </a:prstGeom>
          <a:noFill/>
        </p:spPr>
        <p:txBody>
          <a:bodyPr wrap="square">
            <a:spAutoFit/>
          </a:bodyPr>
          <a:lstStyle/>
          <a:p>
            <a:pPr algn="l"/>
            <a:r>
              <a:rPr lang="en-IN" sz="2000" b="1" u="none" strike="noStrike" baseline="0" dirty="0">
                <a:latin typeface="Times New Roman" panose="02020603050405020304" pitchFamily="18" charset="0"/>
                <a:cs typeface="Times New Roman" panose="02020603050405020304" pitchFamily="18" charset="0"/>
              </a:rPr>
              <a:t>3D Translation</a:t>
            </a:r>
          </a:p>
          <a:p>
            <a:pPr algn="l"/>
            <a:r>
              <a:rPr lang="en-US" b="0" u="none" strike="noStrike" baseline="0" dirty="0">
                <a:latin typeface="Times New Roman" panose="02020603050405020304" pitchFamily="18" charset="0"/>
                <a:cs typeface="Times New Roman" panose="02020603050405020304" pitchFamily="18" charset="0"/>
              </a:rPr>
              <a:t>The algebra is so simple for 3D translation that we can simply write the homogeneous </a:t>
            </a:r>
            <a:r>
              <a:rPr lang="en-IN" b="0" u="none" strike="noStrike" baseline="0" dirty="0">
                <a:latin typeface="Times New Roman" panose="02020603050405020304" pitchFamily="18" charset="0"/>
                <a:cs typeface="Times New Roman" panose="02020603050405020304" pitchFamily="18" charset="0"/>
              </a:rPr>
              <a:t>matrix directly:</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4214490-CBCA-B497-EA2A-8179DB0F288D}"/>
              </a:ext>
            </a:extLst>
          </p:cNvPr>
          <p:cNvPicPr>
            <a:picLocks noChangeAspect="1"/>
          </p:cNvPicPr>
          <p:nvPr/>
        </p:nvPicPr>
        <p:blipFill>
          <a:blip r:embed="rId3"/>
          <a:stretch>
            <a:fillRect/>
          </a:stretch>
        </p:blipFill>
        <p:spPr>
          <a:xfrm>
            <a:off x="4298577" y="3560750"/>
            <a:ext cx="2704023" cy="1301937"/>
          </a:xfrm>
          <a:prstGeom prst="rect">
            <a:avLst/>
          </a:prstGeom>
        </p:spPr>
      </p:pic>
      <p:sp>
        <p:nvSpPr>
          <p:cNvPr id="14" name="TextBox 13">
            <a:extLst>
              <a:ext uri="{FF2B5EF4-FFF2-40B4-BE49-F238E27FC236}">
                <a16:creationId xmlns:a16="http://schemas.microsoft.com/office/drawing/2014/main" id="{B83AD302-D58F-8D9A-CE71-FEBF2554EF73}"/>
              </a:ext>
            </a:extLst>
          </p:cNvPr>
          <p:cNvSpPr txBox="1"/>
          <p:nvPr/>
        </p:nvSpPr>
        <p:spPr>
          <a:xfrm>
            <a:off x="461682" y="4840073"/>
            <a:ext cx="8682318" cy="1754326"/>
          </a:xfrm>
          <a:prstGeom prst="rect">
            <a:avLst/>
          </a:prstGeom>
          <a:noFill/>
        </p:spPr>
        <p:txBody>
          <a:bodyPr wrap="square">
            <a:spAutoFit/>
          </a:bodyPr>
          <a:lstStyle/>
          <a:p>
            <a:pPr algn="just"/>
            <a:r>
              <a:rPr lang="en-IN" b="1" u="none" strike="noStrike" baseline="0" dirty="0">
                <a:latin typeface="Times New Roman" panose="02020603050405020304" pitchFamily="18" charset="0"/>
                <a:cs typeface="Times New Roman" panose="02020603050405020304" pitchFamily="18" charset="0"/>
              </a:rPr>
              <a:t>3D Rotation</a:t>
            </a:r>
          </a:p>
          <a:p>
            <a:pPr algn="just"/>
            <a:r>
              <a:rPr lang="en-US" b="0" u="none" strike="noStrike" baseline="0" dirty="0">
                <a:latin typeface="Times New Roman" panose="02020603050405020304" pitchFamily="18" charset="0"/>
                <a:cs typeface="Times New Roman" panose="02020603050405020304" pitchFamily="18" charset="0"/>
              </a:rPr>
              <a:t>In two dimensions a shape is rotated about a point, whether it be the origin or some other position. In three dimensions an object is rotated about an axis, whether it be the x-, y- or z-axis, or some arbitrary axis. To begin with, let’s look at rotating a vertex about one of the three orthogonal axes; such rotations are called Euler rotations after </a:t>
            </a:r>
            <a:r>
              <a:rPr lang="en-IN" b="0" u="none" strike="noStrike" baseline="0" dirty="0">
                <a:latin typeface="Times New Roman" panose="02020603050405020304" pitchFamily="18" charset="0"/>
                <a:cs typeface="Times New Roman" panose="02020603050405020304" pitchFamily="18" charset="0"/>
              </a:rPr>
              <a:t>Leonhard Euler. </a:t>
            </a:r>
            <a:r>
              <a:rPr lang="en-US" b="0" u="none" strike="noStrike" baseline="0" dirty="0">
                <a:latin typeface="Times New Roman" panose="02020603050405020304" pitchFamily="18" charset="0"/>
                <a:cs typeface="Times New Roman" panose="02020603050405020304" pitchFamily="18" charset="0"/>
              </a:rPr>
              <a:t>Recall that a general 2D rotation transform is given:</a:t>
            </a:r>
            <a:endParaRPr lang="en-IN"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DC417AC4-88A7-E747-4CE3-FAC2D6933332}"/>
              </a:ext>
            </a:extLst>
          </p:cNvPr>
          <p:cNvPicPr>
            <a:picLocks noChangeAspect="1"/>
          </p:cNvPicPr>
          <p:nvPr/>
        </p:nvPicPr>
        <p:blipFill>
          <a:blip r:embed="rId4"/>
          <a:stretch>
            <a:fillRect/>
          </a:stretch>
        </p:blipFill>
        <p:spPr>
          <a:xfrm>
            <a:off x="9299642" y="4759749"/>
            <a:ext cx="2170699" cy="1914973"/>
          </a:xfrm>
          <a:prstGeom prst="rect">
            <a:avLst/>
          </a:prstGeom>
        </p:spPr>
      </p:pic>
      <p:pic>
        <p:nvPicPr>
          <p:cNvPr id="7170" name="Picture 2" descr="Mathematics - Download free icons">
            <a:extLst>
              <a:ext uri="{FF2B5EF4-FFF2-40B4-BE49-F238E27FC236}">
                <a16:creationId xmlns:a16="http://schemas.microsoft.com/office/drawing/2014/main" id="{976F6790-57FE-C961-121E-D0E51918BC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739" y="280883"/>
            <a:ext cx="677109" cy="677109"/>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125394C0-CADE-340B-BC5D-AD74D3005932}"/>
              </a:ext>
            </a:extLst>
          </p:cNvPr>
          <p:cNvSpPr>
            <a:spLocks noGrp="1"/>
          </p:cNvSpPr>
          <p:nvPr>
            <p:ph type="ftr" sz="quarter" idx="11"/>
          </p:nvPr>
        </p:nvSpPr>
        <p:spPr/>
        <p:txBody>
          <a:bodyPr/>
          <a:lstStyle/>
          <a:p>
            <a:r>
              <a:rPr lang="en-IN"/>
              <a:t>Meta-Tourism</a:t>
            </a:r>
          </a:p>
        </p:txBody>
      </p:sp>
      <p:sp>
        <p:nvSpPr>
          <p:cNvPr id="5" name="Slide Number Placeholder 4">
            <a:extLst>
              <a:ext uri="{FF2B5EF4-FFF2-40B4-BE49-F238E27FC236}">
                <a16:creationId xmlns:a16="http://schemas.microsoft.com/office/drawing/2014/main" id="{B810B5D9-E2AC-7997-5ADB-663E2DF88213}"/>
              </a:ext>
            </a:extLst>
          </p:cNvPr>
          <p:cNvSpPr>
            <a:spLocks noGrp="1"/>
          </p:cNvSpPr>
          <p:nvPr>
            <p:ph type="sldNum" sz="quarter" idx="12"/>
          </p:nvPr>
        </p:nvSpPr>
        <p:spPr/>
        <p:txBody>
          <a:bodyPr/>
          <a:lstStyle/>
          <a:p>
            <a:fld id="{43321D51-0D33-47F4-8293-F27514F5326D}" type="slidenum">
              <a:rPr lang="en-IN" smtClean="0"/>
              <a:t>11</a:t>
            </a:fld>
            <a:endParaRPr lang="en-IN"/>
          </a:p>
        </p:txBody>
      </p:sp>
    </p:spTree>
    <p:extLst>
      <p:ext uri="{BB962C8B-B14F-4D97-AF65-F5344CB8AC3E}">
        <p14:creationId xmlns:p14="http://schemas.microsoft.com/office/powerpoint/2010/main" val="2097518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15 Metaverse Companies to Know | Built In">
            <a:extLst>
              <a:ext uri="{FF2B5EF4-FFF2-40B4-BE49-F238E27FC236}">
                <a16:creationId xmlns:a16="http://schemas.microsoft.com/office/drawing/2014/main" id="{BF535697-19ED-161F-E126-E953B7A007D9}"/>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5966011" y="790970"/>
            <a:ext cx="6341174" cy="3329117"/>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Mathematical Modeling</a:t>
            </a:r>
          </a:p>
          <a:p>
            <a:endParaRPr lang="en-US" b="1" dirty="0"/>
          </a:p>
        </p:txBody>
      </p:sp>
      <p:sp>
        <p:nvSpPr>
          <p:cNvPr id="7" name="TextBox 6">
            <a:extLst>
              <a:ext uri="{FF2B5EF4-FFF2-40B4-BE49-F238E27FC236}">
                <a16:creationId xmlns:a16="http://schemas.microsoft.com/office/drawing/2014/main" id="{C8A31DC7-2A97-01F5-B5A1-1D2AABCCF415}"/>
              </a:ext>
            </a:extLst>
          </p:cNvPr>
          <p:cNvSpPr txBox="1"/>
          <p:nvPr/>
        </p:nvSpPr>
        <p:spPr>
          <a:xfrm>
            <a:off x="394447" y="1175917"/>
            <a:ext cx="11403106" cy="1200329"/>
          </a:xfrm>
          <a:prstGeom prst="rect">
            <a:avLst/>
          </a:prstGeom>
          <a:noFill/>
        </p:spPr>
        <p:txBody>
          <a:bodyPr wrap="square">
            <a:spAutoFit/>
          </a:bodyPr>
          <a:lstStyle/>
          <a:p>
            <a:pPr algn="just"/>
            <a:r>
              <a:rPr lang="en-IN" b="1" u="none" strike="noStrike" baseline="0" dirty="0">
                <a:latin typeface="Times New Roman" panose="02020603050405020304" pitchFamily="18" charset="0"/>
                <a:cs typeface="Times New Roman" panose="02020603050405020304" pitchFamily="18" charset="0"/>
              </a:rPr>
              <a:t>3D Change of Axes</a:t>
            </a:r>
          </a:p>
          <a:p>
            <a:pPr algn="just"/>
            <a:r>
              <a:rPr lang="en-US" b="0" u="none" strike="noStrike" baseline="0" dirty="0">
                <a:latin typeface="Times New Roman" panose="02020603050405020304" pitchFamily="18" charset="0"/>
                <a:cs typeface="Times New Roman" panose="02020603050405020304" pitchFamily="18" charset="0"/>
              </a:rPr>
              <a:t>The ability to reference a collection of coordinates is fundamental in computer graphics, especially in 3D. And rather than investigate them within this section, let’s delay their analysis for the next section, where we see how the technique is used for relating an object’s coordinates relative to an arbitrary virtual camera.</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91AE756-ECB1-2929-93A5-8CE9DDE75EAB}"/>
              </a:ext>
            </a:extLst>
          </p:cNvPr>
          <p:cNvSpPr txBox="1"/>
          <p:nvPr/>
        </p:nvSpPr>
        <p:spPr>
          <a:xfrm>
            <a:off x="394447" y="2835005"/>
            <a:ext cx="11277599" cy="1477328"/>
          </a:xfrm>
          <a:prstGeom prst="rect">
            <a:avLst/>
          </a:prstGeom>
          <a:noFill/>
        </p:spPr>
        <p:txBody>
          <a:bodyPr wrap="square">
            <a:spAutoFit/>
          </a:bodyPr>
          <a:lstStyle/>
          <a:p>
            <a:pPr algn="just"/>
            <a:r>
              <a:rPr lang="en-US" b="1" u="none" strike="noStrike" baseline="0" dirty="0">
                <a:solidFill>
                  <a:srgbClr val="000000"/>
                </a:solidFill>
                <a:latin typeface="Times New Roman" panose="02020603050405020304" pitchFamily="18" charset="0"/>
                <a:cs typeface="Times New Roman" panose="02020603050405020304" pitchFamily="18" charset="0"/>
              </a:rPr>
              <a:t>The Geometric Product in 3D</a:t>
            </a:r>
          </a:p>
          <a:p>
            <a:pPr algn="just"/>
            <a:r>
              <a:rPr lang="en-US" b="0" u="none" strike="noStrike" baseline="0" dirty="0">
                <a:solidFill>
                  <a:srgbClr val="000000"/>
                </a:solidFill>
                <a:latin typeface="Times New Roman" panose="02020603050405020304" pitchFamily="18" charset="0"/>
                <a:cs typeface="Times New Roman" panose="02020603050405020304" pitchFamily="18" charset="0"/>
              </a:rPr>
              <a:t>Before we consider the geometric product in 3D we need to introduce some new notation, which will simplify future algebraic expressions. Rather than use </a:t>
            </a:r>
            <a:r>
              <a:rPr lang="en-US" b="1" u="none" strike="noStrike" baseline="0" dirty="0" err="1">
                <a:solidFill>
                  <a:srgbClr val="000000"/>
                </a:solidFill>
                <a:latin typeface="Times New Roman" panose="02020603050405020304" pitchFamily="18" charset="0"/>
                <a:cs typeface="Times New Roman" panose="02020603050405020304" pitchFamily="18" charset="0"/>
              </a:rPr>
              <a:t>i</a:t>
            </a:r>
            <a:r>
              <a:rPr lang="en-US" b="0" u="none" strike="noStrike" baseline="0" dirty="0">
                <a:solidFill>
                  <a:srgbClr val="000000"/>
                </a:solidFill>
                <a:latin typeface="Times New Roman" panose="02020603050405020304" pitchFamily="18" charset="0"/>
                <a:cs typeface="Times New Roman" panose="02020603050405020304" pitchFamily="18" charset="0"/>
              </a:rPr>
              <a:t>, </a:t>
            </a:r>
            <a:r>
              <a:rPr lang="en-US" b="1" u="none" strike="noStrike" baseline="0" dirty="0">
                <a:solidFill>
                  <a:srgbClr val="000000"/>
                </a:solidFill>
                <a:latin typeface="Times New Roman" panose="02020603050405020304" pitchFamily="18" charset="0"/>
                <a:cs typeface="Times New Roman" panose="02020603050405020304" pitchFamily="18" charset="0"/>
              </a:rPr>
              <a:t>j </a:t>
            </a:r>
            <a:r>
              <a:rPr lang="en-US" b="0" u="none" strike="noStrike" baseline="0" dirty="0">
                <a:solidFill>
                  <a:srgbClr val="000000"/>
                </a:solidFill>
                <a:latin typeface="Times New Roman" panose="02020603050405020304" pitchFamily="18" charset="0"/>
                <a:cs typeface="Times New Roman" panose="02020603050405020304" pitchFamily="18" charset="0"/>
              </a:rPr>
              <a:t>and </a:t>
            </a:r>
            <a:r>
              <a:rPr lang="en-US" b="1" u="none" strike="noStrike" baseline="0" dirty="0">
                <a:solidFill>
                  <a:srgbClr val="000000"/>
                </a:solidFill>
                <a:latin typeface="Times New Roman" panose="02020603050405020304" pitchFamily="18" charset="0"/>
                <a:cs typeface="Times New Roman" panose="02020603050405020304" pitchFamily="18" charset="0"/>
              </a:rPr>
              <a:t>k </a:t>
            </a:r>
            <a:r>
              <a:rPr lang="en-US" b="0" u="none" strike="noStrike" baseline="0" dirty="0">
                <a:solidFill>
                  <a:srgbClr val="000000"/>
                </a:solidFill>
                <a:latin typeface="Times New Roman" panose="02020603050405020304" pitchFamily="18" charset="0"/>
                <a:cs typeface="Times New Roman" panose="02020603050405020304" pitchFamily="18" charset="0"/>
              </a:rPr>
              <a:t>to represent the unit basis vectors let’s employ </a:t>
            </a:r>
            <a:r>
              <a:rPr lang="en-US" b="1" u="none" strike="noStrike" baseline="0" dirty="0">
                <a:solidFill>
                  <a:srgbClr val="000000"/>
                </a:solidFill>
                <a:latin typeface="Times New Roman" panose="02020603050405020304" pitchFamily="18" charset="0"/>
                <a:cs typeface="Times New Roman" panose="02020603050405020304" pitchFamily="18" charset="0"/>
              </a:rPr>
              <a:t>e</a:t>
            </a:r>
            <a:r>
              <a:rPr lang="en-US" b="0" u="none" strike="noStrike" baseline="0" dirty="0">
                <a:solidFill>
                  <a:srgbClr val="000000"/>
                </a:solidFill>
                <a:latin typeface="Times New Roman" panose="02020603050405020304" pitchFamily="18" charset="0"/>
                <a:cs typeface="Times New Roman" panose="02020603050405020304" pitchFamily="18" charset="0"/>
              </a:rPr>
              <a:t>1, </a:t>
            </a:r>
            <a:r>
              <a:rPr lang="en-US" b="1" u="none" strike="noStrike" baseline="0" dirty="0">
                <a:solidFill>
                  <a:srgbClr val="000000"/>
                </a:solidFill>
                <a:latin typeface="Times New Roman" panose="02020603050405020304" pitchFamily="18" charset="0"/>
                <a:cs typeface="Times New Roman" panose="02020603050405020304" pitchFamily="18" charset="0"/>
              </a:rPr>
              <a:t>e</a:t>
            </a:r>
            <a:r>
              <a:rPr lang="en-US" b="0" u="none" strike="noStrike" baseline="0" dirty="0">
                <a:solidFill>
                  <a:srgbClr val="000000"/>
                </a:solidFill>
                <a:latin typeface="Times New Roman" panose="02020603050405020304" pitchFamily="18" charset="0"/>
                <a:cs typeface="Times New Roman" panose="02020603050405020304" pitchFamily="18" charset="0"/>
              </a:rPr>
              <a:t>2 and </a:t>
            </a:r>
            <a:r>
              <a:rPr lang="en-US" b="1" u="none" strike="noStrike" baseline="0" dirty="0">
                <a:solidFill>
                  <a:srgbClr val="000000"/>
                </a:solidFill>
                <a:latin typeface="Times New Roman" panose="02020603050405020304" pitchFamily="18" charset="0"/>
                <a:cs typeface="Times New Roman" panose="02020603050405020304" pitchFamily="18" charset="0"/>
              </a:rPr>
              <a:t>e</a:t>
            </a:r>
            <a:r>
              <a:rPr lang="en-US" b="0" u="none" strike="noStrike" baseline="0" dirty="0">
                <a:solidFill>
                  <a:srgbClr val="000000"/>
                </a:solidFill>
                <a:latin typeface="Times New Roman" panose="02020603050405020304" pitchFamily="18" charset="0"/>
                <a:cs typeface="Times New Roman" panose="02020603050405020304" pitchFamily="18" charset="0"/>
              </a:rPr>
              <a:t>3 respectively. This means that can be written</a:t>
            </a:r>
          </a:p>
          <a:p>
            <a:pPr algn="just"/>
            <a:r>
              <a:rPr lang="en-IN" b="1" u="none" strike="noStrike" baseline="0" dirty="0">
                <a:solidFill>
                  <a:srgbClr val="000000"/>
                </a:solidFill>
                <a:latin typeface="Times New Roman" panose="02020603050405020304" pitchFamily="18" charset="0"/>
                <a:cs typeface="Times New Roman" panose="02020603050405020304" pitchFamily="18" charset="0"/>
              </a:rPr>
              <a:t>ab </a:t>
            </a:r>
            <a:r>
              <a:rPr lang="en-IN" b="0" u="none" strike="noStrike" baseline="0" dirty="0">
                <a:solidFill>
                  <a:srgbClr val="000000"/>
                </a:solidFill>
                <a:latin typeface="Times New Roman" panose="02020603050405020304" pitchFamily="18" charset="0"/>
                <a:cs typeface="Times New Roman" panose="02020603050405020304" pitchFamily="18" charset="0"/>
              </a:rPr>
              <a:t>= |</a:t>
            </a:r>
            <a:r>
              <a:rPr lang="en-IN" b="1" u="none" strike="noStrike" baseline="0" dirty="0">
                <a:solidFill>
                  <a:srgbClr val="000000"/>
                </a:solidFill>
                <a:latin typeface="Times New Roman" panose="02020603050405020304" pitchFamily="18" charset="0"/>
                <a:cs typeface="Times New Roman" panose="02020603050405020304" pitchFamily="18" charset="0"/>
              </a:rPr>
              <a:t>a</a:t>
            </a:r>
            <a:r>
              <a:rPr lang="en-IN" b="0" u="none" strike="noStrike" baseline="0" dirty="0">
                <a:solidFill>
                  <a:srgbClr val="000000"/>
                </a:solidFill>
                <a:latin typeface="Times New Roman" panose="02020603050405020304" pitchFamily="18" charset="0"/>
                <a:cs typeface="Times New Roman" panose="02020603050405020304" pitchFamily="18" charset="0"/>
              </a:rPr>
              <a:t>||</a:t>
            </a:r>
            <a:r>
              <a:rPr lang="en-IN" b="1" u="none" strike="noStrike" baseline="0" dirty="0">
                <a:solidFill>
                  <a:srgbClr val="000000"/>
                </a:solidFill>
                <a:latin typeface="Times New Roman" panose="02020603050405020304" pitchFamily="18" charset="0"/>
                <a:cs typeface="Times New Roman" panose="02020603050405020304" pitchFamily="18" charset="0"/>
              </a:rPr>
              <a:t>b</a:t>
            </a:r>
            <a:r>
              <a:rPr lang="en-IN" b="0" u="none" strike="noStrike" baseline="0" dirty="0">
                <a:solidFill>
                  <a:srgbClr val="000000"/>
                </a:solidFill>
                <a:latin typeface="Times New Roman" panose="02020603050405020304" pitchFamily="18" charset="0"/>
                <a:cs typeface="Times New Roman" panose="02020603050405020304" pitchFamily="18" charset="0"/>
              </a:rPr>
              <a:t>| cos </a:t>
            </a:r>
            <a:r>
              <a:rPr lang="el-GR" b="0" u="none" strike="noStrike" baseline="0" dirty="0">
                <a:solidFill>
                  <a:srgbClr val="000000"/>
                </a:solidFill>
                <a:latin typeface="Times New Roman" panose="02020603050405020304" pitchFamily="18" charset="0"/>
                <a:cs typeface="Times New Roman" panose="02020603050405020304" pitchFamily="18" charset="0"/>
              </a:rPr>
              <a:t>θ + |</a:t>
            </a:r>
            <a:r>
              <a:rPr lang="en-IN" b="1" u="none" strike="noStrike" baseline="0" dirty="0">
                <a:solidFill>
                  <a:srgbClr val="000000"/>
                </a:solidFill>
                <a:latin typeface="Times New Roman" panose="02020603050405020304" pitchFamily="18" charset="0"/>
                <a:cs typeface="Times New Roman" panose="02020603050405020304" pitchFamily="18" charset="0"/>
              </a:rPr>
              <a:t>a</a:t>
            </a:r>
            <a:r>
              <a:rPr lang="en-IN" b="0" u="none" strike="noStrike" baseline="0" dirty="0">
                <a:solidFill>
                  <a:srgbClr val="000000"/>
                </a:solidFill>
                <a:latin typeface="Times New Roman" panose="02020603050405020304" pitchFamily="18" charset="0"/>
                <a:cs typeface="Times New Roman" panose="02020603050405020304" pitchFamily="18" charset="0"/>
              </a:rPr>
              <a:t>||</a:t>
            </a:r>
            <a:r>
              <a:rPr lang="en-IN" b="1" u="none" strike="noStrike" baseline="0" dirty="0">
                <a:solidFill>
                  <a:srgbClr val="000000"/>
                </a:solidFill>
                <a:latin typeface="Times New Roman" panose="02020603050405020304" pitchFamily="18" charset="0"/>
                <a:cs typeface="Times New Roman" panose="02020603050405020304" pitchFamily="18" charset="0"/>
              </a:rPr>
              <a:t>b</a:t>
            </a:r>
            <a:r>
              <a:rPr lang="en-IN" b="0" u="none" strike="noStrike" baseline="0" dirty="0">
                <a:solidFill>
                  <a:srgbClr val="000000"/>
                </a:solidFill>
                <a:latin typeface="Times New Roman" panose="02020603050405020304" pitchFamily="18" charset="0"/>
                <a:cs typeface="Times New Roman" panose="02020603050405020304" pitchFamily="18" charset="0"/>
              </a:rPr>
              <a:t>| sin </a:t>
            </a:r>
            <a:r>
              <a:rPr lang="el-GR" b="0" u="none" strike="noStrike" baseline="0" dirty="0">
                <a:solidFill>
                  <a:srgbClr val="000000"/>
                </a:solidFill>
                <a:latin typeface="Times New Roman" panose="02020603050405020304" pitchFamily="18" charset="0"/>
                <a:cs typeface="Times New Roman" panose="02020603050405020304" pitchFamily="18" charset="0"/>
              </a:rPr>
              <a:t>θ </a:t>
            </a:r>
            <a:r>
              <a:rPr lang="en-IN" b="1" u="none" strike="noStrike" baseline="0" dirty="0">
                <a:solidFill>
                  <a:srgbClr val="000000"/>
                </a:solidFill>
                <a:latin typeface="Times New Roman" panose="02020603050405020304" pitchFamily="18" charset="0"/>
                <a:cs typeface="Times New Roman" panose="02020603050405020304" pitchFamily="18" charset="0"/>
              </a:rPr>
              <a:t>e</a:t>
            </a:r>
            <a:r>
              <a:rPr lang="en-IN" b="0" u="none" strike="noStrike" baseline="0" dirty="0">
                <a:solidFill>
                  <a:srgbClr val="000000"/>
                </a:solidFill>
                <a:latin typeface="Times New Roman" panose="02020603050405020304" pitchFamily="18" charset="0"/>
                <a:cs typeface="Times New Roman" panose="02020603050405020304" pitchFamily="18" charset="0"/>
              </a:rPr>
              <a:t>1 ∧ </a:t>
            </a:r>
            <a:r>
              <a:rPr lang="en-IN" b="1" u="none" strike="noStrike" baseline="0" dirty="0">
                <a:solidFill>
                  <a:srgbClr val="000000"/>
                </a:solidFill>
                <a:latin typeface="Times New Roman" panose="02020603050405020304" pitchFamily="18" charset="0"/>
                <a:cs typeface="Times New Roman" panose="02020603050405020304" pitchFamily="18" charset="0"/>
              </a:rPr>
              <a:t>e</a:t>
            </a:r>
            <a:r>
              <a:rPr lang="en-IN" b="0" u="none" strike="noStrike" baseline="0" dirty="0">
                <a:solidFill>
                  <a:srgbClr val="000000"/>
                </a:solidFill>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448C7815-BEC8-06D9-C4DB-0E747EDA4509}"/>
              </a:ext>
            </a:extLst>
          </p:cNvPr>
          <p:cNvPicPr>
            <a:picLocks noChangeAspect="1"/>
          </p:cNvPicPr>
          <p:nvPr/>
        </p:nvPicPr>
        <p:blipFill>
          <a:blip r:embed="rId3"/>
          <a:stretch>
            <a:fillRect/>
          </a:stretch>
        </p:blipFill>
        <p:spPr>
          <a:xfrm>
            <a:off x="519954" y="4312333"/>
            <a:ext cx="3092917" cy="2054581"/>
          </a:xfrm>
          <a:prstGeom prst="rect">
            <a:avLst/>
          </a:prstGeom>
        </p:spPr>
      </p:pic>
      <p:pic>
        <p:nvPicPr>
          <p:cNvPr id="18" name="Picture 17">
            <a:extLst>
              <a:ext uri="{FF2B5EF4-FFF2-40B4-BE49-F238E27FC236}">
                <a16:creationId xmlns:a16="http://schemas.microsoft.com/office/drawing/2014/main" id="{C2265268-2C4B-C372-C9A5-C006790DDBF0}"/>
              </a:ext>
            </a:extLst>
          </p:cNvPr>
          <p:cNvPicPr>
            <a:picLocks noChangeAspect="1"/>
          </p:cNvPicPr>
          <p:nvPr/>
        </p:nvPicPr>
        <p:blipFill>
          <a:blip r:embed="rId4"/>
          <a:stretch>
            <a:fillRect/>
          </a:stretch>
        </p:blipFill>
        <p:spPr>
          <a:xfrm>
            <a:off x="7923033" y="4413531"/>
            <a:ext cx="2702365" cy="1852183"/>
          </a:xfrm>
          <a:prstGeom prst="rect">
            <a:avLst/>
          </a:prstGeom>
        </p:spPr>
      </p:pic>
      <p:sp>
        <p:nvSpPr>
          <p:cNvPr id="19" name="TextBox 18">
            <a:extLst>
              <a:ext uri="{FF2B5EF4-FFF2-40B4-BE49-F238E27FC236}">
                <a16:creationId xmlns:a16="http://schemas.microsoft.com/office/drawing/2014/main" id="{8D858423-4087-4BDD-98C7-388E2CA18526}"/>
              </a:ext>
            </a:extLst>
          </p:cNvPr>
          <p:cNvSpPr txBox="1"/>
          <p:nvPr/>
        </p:nvSpPr>
        <p:spPr>
          <a:xfrm>
            <a:off x="1317858" y="6265714"/>
            <a:ext cx="1497107" cy="369332"/>
          </a:xfrm>
          <a:prstGeom prst="rect">
            <a:avLst/>
          </a:prstGeom>
          <a:noFill/>
        </p:spPr>
        <p:txBody>
          <a:bodyPr wrap="square">
            <a:spAutoFit/>
          </a:bodyPr>
          <a:lstStyle/>
          <a:p>
            <a:pPr algn="just"/>
            <a:r>
              <a:rPr lang="en-US" b="1" u="none" strike="noStrike" baseline="0" dirty="0">
                <a:solidFill>
                  <a:srgbClr val="000000"/>
                </a:solidFill>
                <a:latin typeface="Times New Roman" panose="02020603050405020304" pitchFamily="18" charset="0"/>
                <a:cs typeface="Times New Roman" panose="02020603050405020304" pitchFamily="18" charset="0"/>
              </a:rPr>
              <a:t>3</a:t>
            </a:r>
            <a:r>
              <a:rPr lang="en-US" b="1" dirty="0">
                <a:solidFill>
                  <a:srgbClr val="000000"/>
                </a:solidFill>
                <a:latin typeface="Times New Roman" panose="02020603050405020304" pitchFamily="18" charset="0"/>
                <a:cs typeface="Times New Roman" panose="02020603050405020304" pitchFamily="18" charset="0"/>
              </a:rPr>
              <a:t>D Bivectors</a:t>
            </a:r>
            <a:endParaRPr lang="en-US" b="1" u="none" strike="noStrike" baseline="0" dirty="0">
              <a:solidFill>
                <a:srgbClr val="000000"/>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007939E-75B7-12DF-856C-EE0272393DA4}"/>
              </a:ext>
            </a:extLst>
          </p:cNvPr>
          <p:cNvSpPr txBox="1"/>
          <p:nvPr/>
        </p:nvSpPr>
        <p:spPr>
          <a:xfrm>
            <a:off x="7279568" y="6182246"/>
            <a:ext cx="3989293" cy="369332"/>
          </a:xfrm>
          <a:prstGeom prst="rect">
            <a:avLst/>
          </a:prstGeom>
          <a:noFill/>
        </p:spPr>
        <p:txBody>
          <a:bodyPr wrap="square">
            <a:spAutoFit/>
          </a:bodyPr>
          <a:lstStyle/>
          <a:p>
            <a:pPr algn="just"/>
            <a:r>
              <a:rPr lang="en-US" b="1" u="none" strike="noStrike" baseline="0" dirty="0">
                <a:solidFill>
                  <a:srgbClr val="000000"/>
                </a:solidFill>
                <a:latin typeface="Times New Roman" panose="02020603050405020304" pitchFamily="18" charset="0"/>
                <a:cs typeface="Times New Roman" panose="02020603050405020304" pitchFamily="18" charset="0"/>
              </a:rPr>
              <a:t>The projections on the three bivectors</a:t>
            </a:r>
          </a:p>
        </p:txBody>
      </p:sp>
      <p:pic>
        <p:nvPicPr>
          <p:cNvPr id="21" name="Picture 2" descr="Mathematics - Download free icons">
            <a:extLst>
              <a:ext uri="{FF2B5EF4-FFF2-40B4-BE49-F238E27FC236}">
                <a16:creationId xmlns:a16="http://schemas.microsoft.com/office/drawing/2014/main" id="{4FB96A41-4FD2-2E47-FAEB-9FB52B5A1A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739" y="280883"/>
            <a:ext cx="677109" cy="677109"/>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6BFA0E70-3D76-F931-7FFA-C01DE50E06D1}"/>
              </a:ext>
            </a:extLst>
          </p:cNvPr>
          <p:cNvSpPr>
            <a:spLocks noGrp="1"/>
          </p:cNvSpPr>
          <p:nvPr>
            <p:ph type="ftr" sz="quarter" idx="11"/>
          </p:nvPr>
        </p:nvSpPr>
        <p:spPr/>
        <p:txBody>
          <a:bodyPr/>
          <a:lstStyle/>
          <a:p>
            <a:r>
              <a:rPr lang="en-IN"/>
              <a:t>Meta-Tourism</a:t>
            </a:r>
          </a:p>
        </p:txBody>
      </p:sp>
      <p:sp>
        <p:nvSpPr>
          <p:cNvPr id="4" name="Slide Number Placeholder 3">
            <a:extLst>
              <a:ext uri="{FF2B5EF4-FFF2-40B4-BE49-F238E27FC236}">
                <a16:creationId xmlns:a16="http://schemas.microsoft.com/office/drawing/2014/main" id="{D50D03A3-6B2C-BA7B-A9FC-58FD75F6974A}"/>
              </a:ext>
            </a:extLst>
          </p:cNvPr>
          <p:cNvSpPr>
            <a:spLocks noGrp="1"/>
          </p:cNvSpPr>
          <p:nvPr>
            <p:ph type="sldNum" sz="quarter" idx="12"/>
          </p:nvPr>
        </p:nvSpPr>
        <p:spPr/>
        <p:txBody>
          <a:bodyPr/>
          <a:lstStyle/>
          <a:p>
            <a:fld id="{43321D51-0D33-47F4-8293-F27514F5326D}" type="slidenum">
              <a:rPr lang="en-IN" smtClean="0"/>
              <a:t>12</a:t>
            </a:fld>
            <a:endParaRPr lang="en-IN"/>
          </a:p>
        </p:txBody>
      </p:sp>
    </p:spTree>
    <p:extLst>
      <p:ext uri="{BB962C8B-B14F-4D97-AF65-F5344CB8AC3E}">
        <p14:creationId xmlns:p14="http://schemas.microsoft.com/office/powerpoint/2010/main" val="3254239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Five Key Takeaways from “The Metaverse: A View from the Inside” — GP  GENERATE">
            <a:extLst>
              <a:ext uri="{FF2B5EF4-FFF2-40B4-BE49-F238E27FC236}">
                <a16:creationId xmlns:a16="http://schemas.microsoft.com/office/drawing/2014/main" id="{AC28523B-A0F7-FA7B-E7C0-F1326C46F069}"/>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6630656" y="3328947"/>
            <a:ext cx="5382050" cy="3027403"/>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a:t>
            </a:r>
            <a:r>
              <a:rPr lang="pl-PL" b="1" dirty="0">
                <a:latin typeface="Times New Roman" panose="02020603050405020304" pitchFamily="18" charset="0"/>
                <a:cs typeface="Times New Roman" panose="02020603050405020304" pitchFamily="18" charset="0"/>
              </a:rPr>
              <a:t>NP/NP-P/NP-Hard/NP Complete Analysis</a:t>
            </a:r>
          </a:p>
          <a:p>
            <a:endParaRPr lang="en-US" b="1" dirty="0"/>
          </a:p>
        </p:txBody>
      </p:sp>
      <p:sp>
        <p:nvSpPr>
          <p:cNvPr id="4" name="TextBox 3">
            <a:extLst>
              <a:ext uri="{FF2B5EF4-FFF2-40B4-BE49-F238E27FC236}">
                <a16:creationId xmlns:a16="http://schemas.microsoft.com/office/drawing/2014/main" id="{4DFAAB0B-8422-2CE6-C0B1-DC33F0132B35}"/>
              </a:ext>
            </a:extLst>
          </p:cNvPr>
          <p:cNvSpPr txBox="1"/>
          <p:nvPr/>
        </p:nvSpPr>
        <p:spPr>
          <a:xfrm>
            <a:off x="600636" y="1245274"/>
            <a:ext cx="10990728" cy="2585323"/>
          </a:xfrm>
          <a:prstGeom prst="rect">
            <a:avLst/>
          </a:prstGeom>
          <a:noFill/>
        </p:spPr>
        <p:txBody>
          <a:bodyPr wrap="square">
            <a:spAutoFit/>
          </a:bodyPr>
          <a:lstStyle/>
          <a:p>
            <a:pPr algn="just"/>
            <a:r>
              <a:rPr lang="en-IN" sz="1800" dirty="0">
                <a:effectLst/>
                <a:latin typeface="Times New Roman" panose="02020603050405020304" pitchFamily="18" charset="0"/>
                <a:ea typeface="Calibri" panose="020F0502020204030204" pitchFamily="34" charset="0"/>
              </a:rPr>
              <a:t>To perform a comprehensive NP analysis, you would need to identify specific decision problems within the Meta-tourism context and assess their complexity and verifiability. While NP analysis is crucial in theoretical computer science, its practical application to Meta-tourism may vary depending on the system's specific computational challenges and requirements</a:t>
            </a:r>
          </a:p>
          <a:p>
            <a:pPr algn="just"/>
            <a:endParaRPr lang="en-IN" dirty="0">
              <a:latin typeface="Times New Roman" panose="02020603050405020304" pitchFamily="18" charset="0"/>
              <a:ea typeface="Calibri" panose="020F0502020204030204" pitchFamily="34" charset="0"/>
            </a:endParaRPr>
          </a:p>
          <a:p>
            <a:pPr algn="just"/>
            <a:r>
              <a:rPr lang="en-IN" sz="1800" dirty="0" err="1">
                <a:effectLst/>
                <a:latin typeface="Times New Roman" panose="02020603050405020304" pitchFamily="18" charset="0"/>
                <a:ea typeface="Calibri" panose="020F0502020204030204" pitchFamily="34" charset="0"/>
              </a:rPr>
              <a:t>Analyzing</a:t>
            </a:r>
            <a:r>
              <a:rPr lang="en-IN" sz="1800" dirty="0">
                <a:effectLst/>
                <a:latin typeface="Times New Roman" panose="02020603050405020304" pitchFamily="18" charset="0"/>
                <a:ea typeface="Calibri" panose="020F0502020204030204" pitchFamily="34" charset="0"/>
              </a:rPr>
              <a:t> the complexity class NP (Nondeterministic Polynomial Time) in the context of Meta-tourism would depend on the specific computational problems or decision tasks associated with such a system. In computer science, NP primarily deals with decision problems, which are questions with a "yes" or "no" answer. </a:t>
            </a:r>
            <a:endParaRPr lang="en-IN" dirty="0"/>
          </a:p>
          <a:p>
            <a:pPr algn="just"/>
            <a:endParaRPr lang="en-IN" dirty="0"/>
          </a:p>
        </p:txBody>
      </p:sp>
      <p:sp>
        <p:nvSpPr>
          <p:cNvPr id="10" name="TextBox 9">
            <a:extLst>
              <a:ext uri="{FF2B5EF4-FFF2-40B4-BE49-F238E27FC236}">
                <a16:creationId xmlns:a16="http://schemas.microsoft.com/office/drawing/2014/main" id="{969F9B9E-0A1F-1902-98F3-D5938626D118}"/>
              </a:ext>
            </a:extLst>
          </p:cNvPr>
          <p:cNvSpPr txBox="1"/>
          <p:nvPr/>
        </p:nvSpPr>
        <p:spPr>
          <a:xfrm>
            <a:off x="494137" y="3774395"/>
            <a:ext cx="11412070" cy="2638158"/>
          </a:xfrm>
          <a:prstGeom prst="rect">
            <a:avLst/>
          </a:prstGeom>
          <a:noFill/>
        </p:spPr>
        <p:txBody>
          <a:bodyPr wrap="square">
            <a:spAutoFit/>
          </a:bodyPr>
          <a:lstStyle/>
          <a:p>
            <a:pPr algn="just">
              <a:lnSpc>
                <a:spcPct val="150000"/>
              </a:lnSpc>
              <a:spcAft>
                <a:spcPts val="800"/>
              </a:spcAft>
            </a:pPr>
            <a:r>
              <a:rPr lang="en-IN" sz="1800" kern="100" dirty="0">
                <a:effectLst/>
                <a:latin typeface="Times New Roman" panose="02020603050405020304" pitchFamily="18" charset="0"/>
                <a:ea typeface="Calibri" panose="020F0502020204030204" pitchFamily="34" charset="0"/>
                <a:cs typeface="Mangal" panose="02040503050203030202" pitchFamily="18" charset="0"/>
              </a:rPr>
              <a:t>Here are some considerations when </a:t>
            </a:r>
            <a:r>
              <a:rPr lang="en-IN" sz="1800" kern="100" dirty="0" err="1">
                <a:effectLst/>
                <a:latin typeface="Times New Roman" panose="02020603050405020304" pitchFamily="18" charset="0"/>
                <a:ea typeface="Calibri" panose="020F0502020204030204" pitchFamily="34" charset="0"/>
                <a:cs typeface="Mangal" panose="02040503050203030202" pitchFamily="18" charset="0"/>
              </a:rPr>
              <a:t>analyzing</a:t>
            </a:r>
            <a:r>
              <a:rPr lang="en-IN" sz="1800" kern="100" dirty="0">
                <a:effectLst/>
                <a:latin typeface="Times New Roman" panose="02020603050405020304" pitchFamily="18" charset="0"/>
                <a:ea typeface="Calibri" panose="020F0502020204030204" pitchFamily="34" charset="0"/>
                <a:cs typeface="Mangal" panose="02040503050203030202" pitchFamily="18" charset="0"/>
              </a:rPr>
              <a:t> the NP class in Meta-tourism:</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Mangal" panose="02040503050203030202" pitchFamily="18" charset="0"/>
              </a:rPr>
              <a:t>Decision Problems: Determine if there are decision problems within the Meta-tourism system that fall within the NP class. Decision problems could include questions like "Is there a valid booking for a virtual tour on a given date?" or "Is a user's payment information correct?"</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Mangal" panose="02040503050203030202" pitchFamily="18" charset="0"/>
              </a:rPr>
              <a:t>Verification: If there are decision problems, can the proposed solutions be efficiently verified in polynomial time? For example, can the system efficiently verify whether a virtual tour booking is valid and paid for?</a:t>
            </a:r>
          </a:p>
        </p:txBody>
      </p:sp>
      <p:pic>
        <p:nvPicPr>
          <p:cNvPr id="9218" name="Picture 2" descr="Problem Solving Icon Vector Art, Icons, and Graphics for Free Download">
            <a:extLst>
              <a:ext uri="{FF2B5EF4-FFF2-40B4-BE49-F238E27FC236}">
                <a16:creationId xmlns:a16="http://schemas.microsoft.com/office/drawing/2014/main" id="{F3F0818A-389D-816B-6C9A-7AEF09E66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703" y="276229"/>
            <a:ext cx="641866" cy="650501"/>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931CF68F-598C-C724-A158-E2B1F0405AFD}"/>
              </a:ext>
            </a:extLst>
          </p:cNvPr>
          <p:cNvSpPr>
            <a:spLocks noGrp="1"/>
          </p:cNvSpPr>
          <p:nvPr>
            <p:ph type="ftr" sz="quarter" idx="11"/>
          </p:nvPr>
        </p:nvSpPr>
        <p:spPr/>
        <p:txBody>
          <a:bodyPr/>
          <a:lstStyle/>
          <a:p>
            <a:r>
              <a:rPr lang="en-IN" dirty="0"/>
              <a:t>Meta-Tourism</a:t>
            </a:r>
          </a:p>
        </p:txBody>
      </p:sp>
      <p:sp>
        <p:nvSpPr>
          <p:cNvPr id="5" name="Slide Number Placeholder 4">
            <a:extLst>
              <a:ext uri="{FF2B5EF4-FFF2-40B4-BE49-F238E27FC236}">
                <a16:creationId xmlns:a16="http://schemas.microsoft.com/office/drawing/2014/main" id="{B94C2B47-2C12-B3CA-A9F1-E4ADF7ADB5F9}"/>
              </a:ext>
            </a:extLst>
          </p:cNvPr>
          <p:cNvSpPr>
            <a:spLocks noGrp="1"/>
          </p:cNvSpPr>
          <p:nvPr>
            <p:ph type="sldNum" sz="quarter" idx="12"/>
          </p:nvPr>
        </p:nvSpPr>
        <p:spPr/>
        <p:txBody>
          <a:bodyPr/>
          <a:lstStyle/>
          <a:p>
            <a:fld id="{43321D51-0D33-47F4-8293-F27514F5326D}" type="slidenum">
              <a:rPr lang="en-IN" smtClean="0"/>
              <a:t>13</a:t>
            </a:fld>
            <a:endParaRPr lang="en-IN"/>
          </a:p>
        </p:txBody>
      </p:sp>
    </p:spTree>
    <p:extLst>
      <p:ext uri="{BB962C8B-B14F-4D97-AF65-F5344CB8AC3E}">
        <p14:creationId xmlns:p14="http://schemas.microsoft.com/office/powerpoint/2010/main" val="2953564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Five Key Takeaways from “The Metaverse: A View from the Inside” — GP  GENERATE">
            <a:extLst>
              <a:ext uri="{FF2B5EF4-FFF2-40B4-BE49-F238E27FC236}">
                <a16:creationId xmlns:a16="http://schemas.microsoft.com/office/drawing/2014/main" id="{0A545F22-A3BC-5A41-F7D5-5E69920F2DC7}"/>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6491759" y="2814249"/>
            <a:ext cx="5382050" cy="3027403"/>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a:t>
            </a:r>
            <a:r>
              <a:rPr lang="pl-PL" b="1" dirty="0">
                <a:latin typeface="Times New Roman" panose="02020603050405020304" pitchFamily="18" charset="0"/>
                <a:cs typeface="Times New Roman" panose="02020603050405020304" pitchFamily="18" charset="0"/>
              </a:rPr>
              <a:t>NP/NP-P/NP-Hard/NP Complete Analysis</a:t>
            </a:r>
          </a:p>
          <a:p>
            <a:endParaRPr lang="en-US" b="1" dirty="0"/>
          </a:p>
        </p:txBody>
      </p:sp>
      <p:sp>
        <p:nvSpPr>
          <p:cNvPr id="4" name="TextBox 3">
            <a:extLst>
              <a:ext uri="{FF2B5EF4-FFF2-40B4-BE49-F238E27FC236}">
                <a16:creationId xmlns:a16="http://schemas.microsoft.com/office/drawing/2014/main" id="{4DFAAB0B-8422-2CE6-C0B1-DC33F0132B35}"/>
              </a:ext>
            </a:extLst>
          </p:cNvPr>
          <p:cNvSpPr txBox="1"/>
          <p:nvPr/>
        </p:nvSpPr>
        <p:spPr>
          <a:xfrm>
            <a:off x="600636" y="1531044"/>
            <a:ext cx="10990728" cy="3795911"/>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Mangal" panose="02040503050203030202" pitchFamily="18" charset="0"/>
              </a:rPr>
              <a:t>Complexity: Consider the complexity of the decision problems. Are there aspects of the Meta-tourism system that lead to NP-complete or NP-hard problems? An example could be optimizing virtual tour schedules or resource allocation.</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Mangal" panose="02040503050203030202" pitchFamily="18" charset="0"/>
              </a:rPr>
              <a:t>Reduction: Explore whether problems within the system can be reduced to known NP-complete problems. This would indicate that the system contains NP-complete problems, which are among the hardest problems in NP.</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Mangal" panose="02040503050203030202" pitchFamily="18" charset="0"/>
              </a:rPr>
              <a:t>Parallelism and Nondeterminism: Consider whether parallelism or nondeterministic algorithms can be applied to certain problems within the Meta-tourism system. NP problems may benefit from parallel computation or nondeterministic algorithms to expedite verification.</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algn="just"/>
            <a:endParaRPr lang="en-IN" dirty="0"/>
          </a:p>
        </p:txBody>
      </p:sp>
      <p:pic>
        <p:nvPicPr>
          <p:cNvPr id="3" name="Picture 2" descr="Problem Solving Icon Vector Art, Icons, and Graphics for Free Download">
            <a:extLst>
              <a:ext uri="{FF2B5EF4-FFF2-40B4-BE49-F238E27FC236}">
                <a16:creationId xmlns:a16="http://schemas.microsoft.com/office/drawing/2014/main" id="{4C7E6A0B-DD51-77A6-3EF6-DC41A35FDA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703" y="276229"/>
            <a:ext cx="641866" cy="65050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C67C0B0E-7273-1812-A004-D61391F2F8D2}"/>
              </a:ext>
            </a:extLst>
          </p:cNvPr>
          <p:cNvSpPr>
            <a:spLocks noGrp="1"/>
          </p:cNvSpPr>
          <p:nvPr>
            <p:ph type="ftr" sz="quarter" idx="11"/>
          </p:nvPr>
        </p:nvSpPr>
        <p:spPr/>
        <p:txBody>
          <a:bodyPr/>
          <a:lstStyle/>
          <a:p>
            <a:r>
              <a:rPr lang="en-IN"/>
              <a:t>Meta-Tourism</a:t>
            </a:r>
          </a:p>
        </p:txBody>
      </p:sp>
      <p:sp>
        <p:nvSpPr>
          <p:cNvPr id="6" name="Slide Number Placeholder 5">
            <a:extLst>
              <a:ext uri="{FF2B5EF4-FFF2-40B4-BE49-F238E27FC236}">
                <a16:creationId xmlns:a16="http://schemas.microsoft.com/office/drawing/2014/main" id="{BE61AB55-BA06-08FA-3FD6-87B9C87D668E}"/>
              </a:ext>
            </a:extLst>
          </p:cNvPr>
          <p:cNvSpPr>
            <a:spLocks noGrp="1"/>
          </p:cNvSpPr>
          <p:nvPr>
            <p:ph type="sldNum" sz="quarter" idx="12"/>
          </p:nvPr>
        </p:nvSpPr>
        <p:spPr/>
        <p:txBody>
          <a:bodyPr/>
          <a:lstStyle/>
          <a:p>
            <a:fld id="{43321D51-0D33-47F4-8293-F27514F5326D}" type="slidenum">
              <a:rPr lang="en-IN" smtClean="0"/>
              <a:t>14</a:t>
            </a:fld>
            <a:endParaRPr lang="en-IN"/>
          </a:p>
        </p:txBody>
      </p:sp>
    </p:spTree>
    <p:extLst>
      <p:ext uri="{BB962C8B-B14F-4D97-AF65-F5344CB8AC3E}">
        <p14:creationId xmlns:p14="http://schemas.microsoft.com/office/powerpoint/2010/main" val="3110896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DFD &amp; relevance</a:t>
            </a:r>
          </a:p>
          <a:p>
            <a:endParaRPr lang="en-US" b="1" dirty="0"/>
          </a:p>
        </p:txBody>
      </p:sp>
      <p:pic>
        <p:nvPicPr>
          <p:cNvPr id="3" name="Picture 2">
            <a:extLst>
              <a:ext uri="{FF2B5EF4-FFF2-40B4-BE49-F238E27FC236}">
                <a16:creationId xmlns:a16="http://schemas.microsoft.com/office/drawing/2014/main" id="{FADFA8B0-13BB-D15E-632A-51DBE006A6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57024" y="2438307"/>
            <a:ext cx="10077951" cy="1671918"/>
          </a:xfrm>
          <a:prstGeom prst="rect">
            <a:avLst/>
          </a:prstGeom>
          <a:noFill/>
          <a:ln>
            <a:solidFill>
              <a:schemeClr val="tx1"/>
            </a:solidFill>
          </a:ln>
        </p:spPr>
      </p:pic>
      <p:sp>
        <p:nvSpPr>
          <p:cNvPr id="4" name="TextBox 3">
            <a:extLst>
              <a:ext uri="{FF2B5EF4-FFF2-40B4-BE49-F238E27FC236}">
                <a16:creationId xmlns:a16="http://schemas.microsoft.com/office/drawing/2014/main" id="{DCE9C69F-69F0-4112-290F-4570B0B79EA6}"/>
              </a:ext>
            </a:extLst>
          </p:cNvPr>
          <p:cNvSpPr txBox="1"/>
          <p:nvPr/>
        </p:nvSpPr>
        <p:spPr>
          <a:xfrm>
            <a:off x="5126792" y="4419693"/>
            <a:ext cx="1938416" cy="369332"/>
          </a:xfrm>
          <a:prstGeom prst="rect">
            <a:avLst/>
          </a:prstGeom>
          <a:noFill/>
        </p:spPr>
        <p:txBody>
          <a:bodyPr wrap="square" rtlCol="0">
            <a:spAutoFit/>
          </a:bodyPr>
          <a:lstStyle/>
          <a:p>
            <a:pPr algn="ct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DFD level-0</a:t>
            </a:r>
            <a:endParaRPr lang="en-IN" dirty="0">
              <a:latin typeface="Times New Roman" panose="02020603050405020304" pitchFamily="18" charset="0"/>
              <a:cs typeface="Times New Roman" panose="02020603050405020304" pitchFamily="18" charset="0"/>
            </a:endParaRPr>
          </a:p>
        </p:txBody>
      </p:sp>
      <p:pic>
        <p:nvPicPr>
          <p:cNvPr id="11266" name="Picture 2" descr="Data flow chart - Free interface icons">
            <a:extLst>
              <a:ext uri="{FF2B5EF4-FFF2-40B4-BE49-F238E27FC236}">
                <a16:creationId xmlns:a16="http://schemas.microsoft.com/office/drawing/2014/main" id="{F8B8E03A-81CA-A1FE-AD58-F772B7AF18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062" y="276229"/>
            <a:ext cx="702128" cy="702128"/>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41DDA480-82D1-B01B-2E80-6B5824B98FA0}"/>
              </a:ext>
            </a:extLst>
          </p:cNvPr>
          <p:cNvSpPr>
            <a:spLocks noGrp="1"/>
          </p:cNvSpPr>
          <p:nvPr>
            <p:ph type="ftr" sz="quarter" idx="11"/>
          </p:nvPr>
        </p:nvSpPr>
        <p:spPr/>
        <p:txBody>
          <a:bodyPr/>
          <a:lstStyle/>
          <a:p>
            <a:r>
              <a:rPr lang="en-IN" dirty="0"/>
              <a:t>Meta-Tourism</a:t>
            </a:r>
          </a:p>
        </p:txBody>
      </p:sp>
      <p:sp>
        <p:nvSpPr>
          <p:cNvPr id="6" name="Slide Number Placeholder 5">
            <a:extLst>
              <a:ext uri="{FF2B5EF4-FFF2-40B4-BE49-F238E27FC236}">
                <a16:creationId xmlns:a16="http://schemas.microsoft.com/office/drawing/2014/main" id="{92DCBE78-85F8-7A48-71D7-5563BBBC26D0}"/>
              </a:ext>
            </a:extLst>
          </p:cNvPr>
          <p:cNvSpPr>
            <a:spLocks noGrp="1"/>
          </p:cNvSpPr>
          <p:nvPr>
            <p:ph type="sldNum" sz="quarter" idx="12"/>
          </p:nvPr>
        </p:nvSpPr>
        <p:spPr/>
        <p:txBody>
          <a:bodyPr/>
          <a:lstStyle/>
          <a:p>
            <a:fld id="{43321D51-0D33-47F4-8293-F27514F5326D}" type="slidenum">
              <a:rPr lang="en-IN" smtClean="0"/>
              <a:t>15</a:t>
            </a:fld>
            <a:endParaRPr lang="en-IN"/>
          </a:p>
        </p:txBody>
      </p:sp>
    </p:spTree>
    <p:extLst>
      <p:ext uri="{BB962C8B-B14F-4D97-AF65-F5344CB8AC3E}">
        <p14:creationId xmlns:p14="http://schemas.microsoft.com/office/powerpoint/2010/main" val="969727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DFD &amp; relevance</a:t>
            </a:r>
          </a:p>
          <a:p>
            <a:endParaRPr lang="en-US" b="1" dirty="0"/>
          </a:p>
        </p:txBody>
      </p:sp>
      <p:sp>
        <p:nvSpPr>
          <p:cNvPr id="4" name="TextBox 3">
            <a:extLst>
              <a:ext uri="{FF2B5EF4-FFF2-40B4-BE49-F238E27FC236}">
                <a16:creationId xmlns:a16="http://schemas.microsoft.com/office/drawing/2014/main" id="{DCE9C69F-69F0-4112-290F-4570B0B79EA6}"/>
              </a:ext>
            </a:extLst>
          </p:cNvPr>
          <p:cNvSpPr txBox="1"/>
          <p:nvPr/>
        </p:nvSpPr>
        <p:spPr>
          <a:xfrm>
            <a:off x="5126792" y="5961622"/>
            <a:ext cx="1938416" cy="369332"/>
          </a:xfrm>
          <a:prstGeom prst="rect">
            <a:avLst/>
          </a:prstGeom>
          <a:noFill/>
        </p:spPr>
        <p:txBody>
          <a:bodyPr wrap="square" rtlCol="0">
            <a:spAutoFit/>
          </a:bodyPr>
          <a:lstStyle/>
          <a:p>
            <a:pPr algn="ct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DFD level-1</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8922D1B-FAB1-ACC8-0282-9A0D1384B4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5148" y="1643549"/>
            <a:ext cx="8761704" cy="4156616"/>
          </a:xfrm>
          <a:prstGeom prst="rect">
            <a:avLst/>
          </a:prstGeom>
          <a:ln>
            <a:solidFill>
              <a:schemeClr val="tx1"/>
            </a:solidFill>
          </a:ln>
        </p:spPr>
      </p:pic>
      <p:pic>
        <p:nvPicPr>
          <p:cNvPr id="3" name="Picture 2" descr="Data flow chart - Free interface icons">
            <a:extLst>
              <a:ext uri="{FF2B5EF4-FFF2-40B4-BE49-F238E27FC236}">
                <a16:creationId xmlns:a16="http://schemas.microsoft.com/office/drawing/2014/main" id="{15F3919E-9E8C-AACD-AE33-37AC256792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062" y="276229"/>
            <a:ext cx="702128" cy="702128"/>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11413261-8C3C-1890-D414-271B52743E49}"/>
              </a:ext>
            </a:extLst>
          </p:cNvPr>
          <p:cNvSpPr>
            <a:spLocks noGrp="1"/>
          </p:cNvSpPr>
          <p:nvPr>
            <p:ph type="ftr" sz="quarter" idx="11"/>
          </p:nvPr>
        </p:nvSpPr>
        <p:spPr/>
        <p:txBody>
          <a:bodyPr/>
          <a:lstStyle/>
          <a:p>
            <a:r>
              <a:rPr lang="en-IN"/>
              <a:t>Meta-Tourism</a:t>
            </a:r>
          </a:p>
        </p:txBody>
      </p:sp>
      <p:sp>
        <p:nvSpPr>
          <p:cNvPr id="7" name="Slide Number Placeholder 6">
            <a:extLst>
              <a:ext uri="{FF2B5EF4-FFF2-40B4-BE49-F238E27FC236}">
                <a16:creationId xmlns:a16="http://schemas.microsoft.com/office/drawing/2014/main" id="{D7478653-5DA8-D5E7-DA01-CACF1DCD4130}"/>
              </a:ext>
            </a:extLst>
          </p:cNvPr>
          <p:cNvSpPr>
            <a:spLocks noGrp="1"/>
          </p:cNvSpPr>
          <p:nvPr>
            <p:ph type="sldNum" sz="quarter" idx="12"/>
          </p:nvPr>
        </p:nvSpPr>
        <p:spPr/>
        <p:txBody>
          <a:bodyPr/>
          <a:lstStyle/>
          <a:p>
            <a:fld id="{43321D51-0D33-47F4-8293-F27514F5326D}" type="slidenum">
              <a:rPr lang="en-IN" smtClean="0"/>
              <a:t>16</a:t>
            </a:fld>
            <a:endParaRPr lang="en-IN"/>
          </a:p>
        </p:txBody>
      </p:sp>
    </p:spTree>
    <p:extLst>
      <p:ext uri="{BB962C8B-B14F-4D97-AF65-F5344CB8AC3E}">
        <p14:creationId xmlns:p14="http://schemas.microsoft.com/office/powerpoint/2010/main" val="3616938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DFD &amp; relevance</a:t>
            </a:r>
          </a:p>
          <a:p>
            <a:endParaRPr lang="en-US" b="1" dirty="0"/>
          </a:p>
        </p:txBody>
      </p:sp>
      <p:sp>
        <p:nvSpPr>
          <p:cNvPr id="4" name="TextBox 3">
            <a:extLst>
              <a:ext uri="{FF2B5EF4-FFF2-40B4-BE49-F238E27FC236}">
                <a16:creationId xmlns:a16="http://schemas.microsoft.com/office/drawing/2014/main" id="{DCE9C69F-69F0-4112-290F-4570B0B79EA6}"/>
              </a:ext>
            </a:extLst>
          </p:cNvPr>
          <p:cNvSpPr txBox="1"/>
          <p:nvPr/>
        </p:nvSpPr>
        <p:spPr>
          <a:xfrm>
            <a:off x="5126792" y="5961622"/>
            <a:ext cx="1938416" cy="369332"/>
          </a:xfrm>
          <a:prstGeom prst="rect">
            <a:avLst/>
          </a:prstGeom>
          <a:noFill/>
        </p:spPr>
        <p:txBody>
          <a:bodyPr wrap="square" rtlCol="0">
            <a:spAutoFit/>
          </a:bodyPr>
          <a:lstStyle/>
          <a:p>
            <a:pPr algn="ct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DFD level-2</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BB550B3-29C5-5D68-FCFB-63C2BE988A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70878" y="1342850"/>
            <a:ext cx="7778339" cy="4338917"/>
          </a:xfrm>
          <a:prstGeom prst="rect">
            <a:avLst/>
          </a:prstGeom>
          <a:ln>
            <a:solidFill>
              <a:schemeClr val="tx1"/>
            </a:solidFill>
          </a:ln>
        </p:spPr>
      </p:pic>
      <p:pic>
        <p:nvPicPr>
          <p:cNvPr id="5" name="Picture 2" descr="Data flow chart - Free interface icons">
            <a:extLst>
              <a:ext uri="{FF2B5EF4-FFF2-40B4-BE49-F238E27FC236}">
                <a16:creationId xmlns:a16="http://schemas.microsoft.com/office/drawing/2014/main" id="{6BA8688B-AD5D-8BF5-6E54-6579AA93E6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062" y="276229"/>
            <a:ext cx="702128" cy="702128"/>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4E72DE9E-8E34-BD98-4E09-BA1052BBFD03}"/>
              </a:ext>
            </a:extLst>
          </p:cNvPr>
          <p:cNvSpPr>
            <a:spLocks noGrp="1"/>
          </p:cNvSpPr>
          <p:nvPr>
            <p:ph type="ftr" sz="quarter" idx="11"/>
          </p:nvPr>
        </p:nvSpPr>
        <p:spPr/>
        <p:txBody>
          <a:bodyPr/>
          <a:lstStyle/>
          <a:p>
            <a:r>
              <a:rPr lang="en-IN"/>
              <a:t>Meta-Tourism</a:t>
            </a:r>
          </a:p>
        </p:txBody>
      </p:sp>
      <p:sp>
        <p:nvSpPr>
          <p:cNvPr id="7" name="Slide Number Placeholder 6">
            <a:extLst>
              <a:ext uri="{FF2B5EF4-FFF2-40B4-BE49-F238E27FC236}">
                <a16:creationId xmlns:a16="http://schemas.microsoft.com/office/drawing/2014/main" id="{CC4B0854-1DD7-11B1-B954-32112078A0B6}"/>
              </a:ext>
            </a:extLst>
          </p:cNvPr>
          <p:cNvSpPr>
            <a:spLocks noGrp="1"/>
          </p:cNvSpPr>
          <p:nvPr>
            <p:ph type="sldNum" sz="quarter" idx="12"/>
          </p:nvPr>
        </p:nvSpPr>
        <p:spPr/>
        <p:txBody>
          <a:bodyPr/>
          <a:lstStyle/>
          <a:p>
            <a:fld id="{43321D51-0D33-47F4-8293-F27514F5326D}" type="slidenum">
              <a:rPr lang="en-IN" smtClean="0"/>
              <a:t>17</a:t>
            </a:fld>
            <a:endParaRPr lang="en-IN"/>
          </a:p>
        </p:txBody>
      </p:sp>
    </p:spTree>
    <p:extLst>
      <p:ext uri="{BB962C8B-B14F-4D97-AF65-F5344CB8AC3E}">
        <p14:creationId xmlns:p14="http://schemas.microsoft.com/office/powerpoint/2010/main" val="4104777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UML Modeling</a:t>
            </a:r>
          </a:p>
          <a:p>
            <a:endParaRPr lang="en-US" b="1" dirty="0"/>
          </a:p>
        </p:txBody>
      </p:sp>
      <p:pic>
        <p:nvPicPr>
          <p:cNvPr id="3" name="Picture 2">
            <a:extLst>
              <a:ext uri="{FF2B5EF4-FFF2-40B4-BE49-F238E27FC236}">
                <a16:creationId xmlns:a16="http://schemas.microsoft.com/office/drawing/2014/main" id="{EA65EFEF-6782-D769-889F-99F750D0A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979" y="973348"/>
            <a:ext cx="3332518" cy="5061377"/>
          </a:xfrm>
          <a:prstGeom prst="rect">
            <a:avLst/>
          </a:prstGeom>
          <a:ln>
            <a:solidFill>
              <a:schemeClr val="tx1"/>
            </a:solidFill>
          </a:ln>
        </p:spPr>
      </p:pic>
      <p:sp>
        <p:nvSpPr>
          <p:cNvPr id="4" name="TextBox 3">
            <a:extLst>
              <a:ext uri="{FF2B5EF4-FFF2-40B4-BE49-F238E27FC236}">
                <a16:creationId xmlns:a16="http://schemas.microsoft.com/office/drawing/2014/main" id="{564DA519-E1FE-EFDC-E3EE-D72EE67056C9}"/>
              </a:ext>
            </a:extLst>
          </p:cNvPr>
          <p:cNvSpPr txBox="1"/>
          <p:nvPr/>
        </p:nvSpPr>
        <p:spPr>
          <a:xfrm>
            <a:off x="1534296" y="6131952"/>
            <a:ext cx="1867884" cy="369332"/>
          </a:xfrm>
          <a:prstGeom prst="rect">
            <a:avLst/>
          </a:prstGeom>
          <a:noFill/>
        </p:spPr>
        <p:txBody>
          <a:bodyPr wrap="square" rtlCol="0">
            <a:spAutoFit/>
          </a:bodyPr>
          <a:lstStyle/>
          <a:p>
            <a:r>
              <a:rPr lang="en-IN" dirty="0"/>
              <a:t>Use Case Diagram</a:t>
            </a:r>
          </a:p>
        </p:txBody>
      </p:sp>
      <p:pic>
        <p:nvPicPr>
          <p:cNvPr id="6" name="Picture 5">
            <a:extLst>
              <a:ext uri="{FF2B5EF4-FFF2-40B4-BE49-F238E27FC236}">
                <a16:creationId xmlns:a16="http://schemas.microsoft.com/office/drawing/2014/main" id="{6843F0F0-0D3A-2B37-E727-78DAF2881A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0107" y="973349"/>
            <a:ext cx="3573614" cy="5025100"/>
          </a:xfrm>
          <a:prstGeom prst="rect">
            <a:avLst/>
          </a:prstGeom>
          <a:ln>
            <a:solidFill>
              <a:schemeClr val="tx1"/>
            </a:solidFill>
          </a:ln>
        </p:spPr>
      </p:pic>
      <p:sp>
        <p:nvSpPr>
          <p:cNvPr id="7" name="TextBox 6">
            <a:extLst>
              <a:ext uri="{FF2B5EF4-FFF2-40B4-BE49-F238E27FC236}">
                <a16:creationId xmlns:a16="http://schemas.microsoft.com/office/drawing/2014/main" id="{A09CDC93-7B1A-B6CB-E6A9-359C8932C418}"/>
              </a:ext>
            </a:extLst>
          </p:cNvPr>
          <p:cNvSpPr txBox="1"/>
          <p:nvPr/>
        </p:nvSpPr>
        <p:spPr>
          <a:xfrm>
            <a:off x="5924082" y="6131952"/>
            <a:ext cx="1938416" cy="369332"/>
          </a:xfrm>
          <a:prstGeom prst="rect">
            <a:avLst/>
          </a:prstGeom>
          <a:noFill/>
        </p:spPr>
        <p:txBody>
          <a:bodyPr wrap="square" rtlCol="0">
            <a:spAutoFit/>
          </a:bodyPr>
          <a:lstStyle/>
          <a:p>
            <a:r>
              <a:rPr lang="en-IN" dirty="0"/>
              <a:t>Sequence Diagram</a:t>
            </a:r>
          </a:p>
        </p:txBody>
      </p:sp>
      <p:pic>
        <p:nvPicPr>
          <p:cNvPr id="8" name="Picture 7">
            <a:extLst>
              <a:ext uri="{FF2B5EF4-FFF2-40B4-BE49-F238E27FC236}">
                <a16:creationId xmlns:a16="http://schemas.microsoft.com/office/drawing/2014/main" id="{7DFE3352-DBFF-E70B-261A-80FE07B211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8699" y="955731"/>
            <a:ext cx="2019527" cy="5041657"/>
          </a:xfrm>
          <a:prstGeom prst="rect">
            <a:avLst/>
          </a:prstGeom>
          <a:ln>
            <a:solidFill>
              <a:schemeClr val="tx1"/>
            </a:solidFill>
          </a:ln>
        </p:spPr>
      </p:pic>
      <p:sp>
        <p:nvSpPr>
          <p:cNvPr id="9" name="TextBox 8">
            <a:extLst>
              <a:ext uri="{FF2B5EF4-FFF2-40B4-BE49-F238E27FC236}">
                <a16:creationId xmlns:a16="http://schemas.microsoft.com/office/drawing/2014/main" id="{C1B01520-4593-797E-4073-EB7969CA1CCE}"/>
              </a:ext>
            </a:extLst>
          </p:cNvPr>
          <p:cNvSpPr txBox="1"/>
          <p:nvPr/>
        </p:nvSpPr>
        <p:spPr>
          <a:xfrm>
            <a:off x="9716955" y="6131952"/>
            <a:ext cx="1722010" cy="369332"/>
          </a:xfrm>
          <a:prstGeom prst="rect">
            <a:avLst/>
          </a:prstGeom>
          <a:noFill/>
        </p:spPr>
        <p:txBody>
          <a:bodyPr wrap="square" rtlCol="0">
            <a:spAutoFit/>
          </a:bodyPr>
          <a:lstStyle/>
          <a:p>
            <a:r>
              <a:rPr lang="en-IN" dirty="0"/>
              <a:t>Activity Diagram</a:t>
            </a:r>
          </a:p>
        </p:txBody>
      </p:sp>
      <p:pic>
        <p:nvPicPr>
          <p:cNvPr id="20482" name="Picture 2" descr="Uml - Free business icons">
            <a:extLst>
              <a:ext uri="{FF2B5EF4-FFF2-40B4-BE49-F238E27FC236}">
                <a16:creationId xmlns:a16="http://schemas.microsoft.com/office/drawing/2014/main" id="{02F27699-3E10-FE65-37A3-6D6C10469D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321" y="276229"/>
            <a:ext cx="663668" cy="663668"/>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9C643FAB-45F9-ACCE-6597-F9FCA2FF4A99}"/>
              </a:ext>
            </a:extLst>
          </p:cNvPr>
          <p:cNvSpPr>
            <a:spLocks noGrp="1"/>
          </p:cNvSpPr>
          <p:nvPr>
            <p:ph type="ftr" sz="quarter" idx="11"/>
          </p:nvPr>
        </p:nvSpPr>
        <p:spPr/>
        <p:txBody>
          <a:bodyPr/>
          <a:lstStyle/>
          <a:p>
            <a:r>
              <a:rPr lang="en-IN"/>
              <a:t>Meta-Tourism</a:t>
            </a:r>
          </a:p>
        </p:txBody>
      </p:sp>
      <p:sp>
        <p:nvSpPr>
          <p:cNvPr id="10" name="Slide Number Placeholder 9">
            <a:extLst>
              <a:ext uri="{FF2B5EF4-FFF2-40B4-BE49-F238E27FC236}">
                <a16:creationId xmlns:a16="http://schemas.microsoft.com/office/drawing/2014/main" id="{6E4ED01B-9D43-C1B4-585C-478C188127AA}"/>
              </a:ext>
            </a:extLst>
          </p:cNvPr>
          <p:cNvSpPr>
            <a:spLocks noGrp="1"/>
          </p:cNvSpPr>
          <p:nvPr>
            <p:ph type="sldNum" sz="quarter" idx="12"/>
          </p:nvPr>
        </p:nvSpPr>
        <p:spPr/>
        <p:txBody>
          <a:bodyPr/>
          <a:lstStyle/>
          <a:p>
            <a:fld id="{43321D51-0D33-47F4-8293-F27514F5326D}" type="slidenum">
              <a:rPr lang="en-IN" smtClean="0"/>
              <a:t>18</a:t>
            </a:fld>
            <a:endParaRPr lang="en-IN"/>
          </a:p>
        </p:txBody>
      </p:sp>
    </p:spTree>
    <p:extLst>
      <p:ext uri="{BB962C8B-B14F-4D97-AF65-F5344CB8AC3E}">
        <p14:creationId xmlns:p14="http://schemas.microsoft.com/office/powerpoint/2010/main" val="3942793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UML Modeling</a:t>
            </a:r>
          </a:p>
          <a:p>
            <a:endParaRPr lang="en-US" b="1" dirty="0"/>
          </a:p>
        </p:txBody>
      </p:sp>
      <p:pic>
        <p:nvPicPr>
          <p:cNvPr id="5" name="Picture 4">
            <a:extLst>
              <a:ext uri="{FF2B5EF4-FFF2-40B4-BE49-F238E27FC236}">
                <a16:creationId xmlns:a16="http://schemas.microsoft.com/office/drawing/2014/main" id="{B7648D9E-7DCD-0577-6EEC-468B80390C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3670" y="1273286"/>
            <a:ext cx="9484659" cy="4662468"/>
          </a:xfrm>
          <a:prstGeom prst="rect">
            <a:avLst/>
          </a:prstGeom>
          <a:ln>
            <a:solidFill>
              <a:schemeClr val="tx1"/>
            </a:solidFill>
          </a:ln>
        </p:spPr>
      </p:pic>
      <p:sp>
        <p:nvSpPr>
          <p:cNvPr id="6" name="TextBox 5">
            <a:extLst>
              <a:ext uri="{FF2B5EF4-FFF2-40B4-BE49-F238E27FC236}">
                <a16:creationId xmlns:a16="http://schemas.microsoft.com/office/drawing/2014/main" id="{27A6327F-D4BE-2A29-BC78-41B909C6BDCE}"/>
              </a:ext>
            </a:extLst>
          </p:cNvPr>
          <p:cNvSpPr txBox="1"/>
          <p:nvPr/>
        </p:nvSpPr>
        <p:spPr>
          <a:xfrm>
            <a:off x="5351211" y="5961379"/>
            <a:ext cx="1489575" cy="369332"/>
          </a:xfrm>
          <a:prstGeom prst="rect">
            <a:avLst/>
          </a:prstGeom>
          <a:noFill/>
        </p:spPr>
        <p:txBody>
          <a:bodyPr wrap="none" rtlCol="0">
            <a:spAutoFit/>
          </a:bodyPr>
          <a:lstStyle/>
          <a:p>
            <a:r>
              <a:rPr lang="en-IN" dirty="0"/>
              <a:t>Class Diagram</a:t>
            </a:r>
          </a:p>
        </p:txBody>
      </p:sp>
      <p:pic>
        <p:nvPicPr>
          <p:cNvPr id="7" name="Picture 2" descr="Uml - Free business icons">
            <a:extLst>
              <a:ext uri="{FF2B5EF4-FFF2-40B4-BE49-F238E27FC236}">
                <a16:creationId xmlns:a16="http://schemas.microsoft.com/office/drawing/2014/main" id="{4D6A4BE6-1451-718A-DC5B-C0437ABC6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321" y="276229"/>
            <a:ext cx="663668" cy="663668"/>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D1764C49-A31A-B808-7BF0-2BF7C19ADE01}"/>
              </a:ext>
            </a:extLst>
          </p:cNvPr>
          <p:cNvSpPr>
            <a:spLocks noGrp="1"/>
          </p:cNvSpPr>
          <p:nvPr>
            <p:ph type="ftr" sz="quarter" idx="11"/>
          </p:nvPr>
        </p:nvSpPr>
        <p:spPr/>
        <p:txBody>
          <a:bodyPr/>
          <a:lstStyle/>
          <a:p>
            <a:r>
              <a:rPr lang="en-IN"/>
              <a:t>Meta-Tourism</a:t>
            </a:r>
          </a:p>
        </p:txBody>
      </p:sp>
      <p:sp>
        <p:nvSpPr>
          <p:cNvPr id="4" name="Slide Number Placeholder 3">
            <a:extLst>
              <a:ext uri="{FF2B5EF4-FFF2-40B4-BE49-F238E27FC236}">
                <a16:creationId xmlns:a16="http://schemas.microsoft.com/office/drawing/2014/main" id="{A340411C-DBD5-2D4F-FB3B-9B112DA3E590}"/>
              </a:ext>
            </a:extLst>
          </p:cNvPr>
          <p:cNvSpPr>
            <a:spLocks noGrp="1"/>
          </p:cNvSpPr>
          <p:nvPr>
            <p:ph type="sldNum" sz="quarter" idx="12"/>
          </p:nvPr>
        </p:nvSpPr>
        <p:spPr/>
        <p:txBody>
          <a:bodyPr/>
          <a:lstStyle/>
          <a:p>
            <a:fld id="{43321D51-0D33-47F4-8293-F27514F5326D}" type="slidenum">
              <a:rPr lang="en-IN" smtClean="0"/>
              <a:t>19</a:t>
            </a:fld>
            <a:endParaRPr lang="en-IN"/>
          </a:p>
        </p:txBody>
      </p:sp>
    </p:spTree>
    <p:extLst>
      <p:ext uri="{BB962C8B-B14F-4D97-AF65-F5344CB8AC3E}">
        <p14:creationId xmlns:p14="http://schemas.microsoft.com/office/powerpoint/2010/main" val="3254205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15 Metaverse Companies to Know | Built In">
            <a:extLst>
              <a:ext uri="{FF2B5EF4-FFF2-40B4-BE49-F238E27FC236}">
                <a16:creationId xmlns:a16="http://schemas.microsoft.com/office/drawing/2014/main" id="{9C668542-15AC-132F-C7A8-8C4CFC48CD88}"/>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5966011" y="790970"/>
            <a:ext cx="6341174" cy="3329117"/>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Advantages</a:t>
            </a:r>
          </a:p>
          <a:p>
            <a:endParaRPr lang="en-US" b="1" dirty="0"/>
          </a:p>
        </p:txBody>
      </p:sp>
      <p:sp>
        <p:nvSpPr>
          <p:cNvPr id="4" name="TextBox 3">
            <a:extLst>
              <a:ext uri="{FF2B5EF4-FFF2-40B4-BE49-F238E27FC236}">
                <a16:creationId xmlns:a16="http://schemas.microsoft.com/office/drawing/2014/main" id="{A288D8F7-CCE4-BFDB-4C1E-8B7D110B0BC6}"/>
              </a:ext>
            </a:extLst>
          </p:cNvPr>
          <p:cNvSpPr txBox="1"/>
          <p:nvPr/>
        </p:nvSpPr>
        <p:spPr>
          <a:xfrm>
            <a:off x="644324" y="1210867"/>
            <a:ext cx="10903352" cy="5033879"/>
          </a:xfrm>
          <a:prstGeom prst="rect">
            <a:avLst/>
          </a:prstGeom>
          <a:noFill/>
        </p:spPr>
        <p:txBody>
          <a:bodyPr wrap="square">
            <a:spAutoFit/>
          </a:bodyPr>
          <a:lstStyle/>
          <a:p>
            <a:pPr marL="342900" lvl="0" indent="-342900" algn="just">
              <a:lnSpc>
                <a:spcPct val="150000"/>
              </a:lnSpc>
              <a:buFont typeface="Arial" panose="020B0604020202020204" pitchFamily="34" charset="0"/>
              <a:buChar char="•"/>
              <a:tabLst>
                <a:tab pos="1879600" algn="l"/>
              </a:tabLst>
            </a:pPr>
            <a:r>
              <a:rPr lang="en-IN" sz="1800" b="1" kern="0" dirty="0">
                <a:effectLst/>
                <a:latin typeface="TimesNewRomanPS-BoldMT"/>
                <a:ea typeface="Calibri" panose="020F0502020204030204" pitchFamily="34" charset="0"/>
                <a:cs typeface="TimesNewRomanPS-BoldMT"/>
              </a:rPr>
              <a:t>Global Accessibility</a:t>
            </a:r>
            <a:r>
              <a:rPr lang="en-IN" sz="1800" kern="0" dirty="0">
                <a:effectLst/>
                <a:latin typeface="TimesNewRomanPS-BoldMT"/>
                <a:ea typeface="Calibri" panose="020F0502020204030204" pitchFamily="34" charset="0"/>
                <a:cs typeface="TimesNewRomanPS-BoldMT"/>
              </a:rPr>
              <a:t>: Meta-tourism provides access to virtual destinations, breaking down geographical barriers, making it accessible to people worldwide</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Arial" panose="020B0604020202020204" pitchFamily="34" charset="0"/>
              <a:buChar char="•"/>
              <a:tabLst>
                <a:tab pos="1879600" algn="l"/>
              </a:tabLst>
            </a:pPr>
            <a:r>
              <a:rPr lang="en-IN" sz="1800" b="1" kern="0" dirty="0">
                <a:effectLst/>
                <a:latin typeface="TimesNewRomanPS-BoldMT"/>
                <a:ea typeface="Calibri" panose="020F0502020204030204" pitchFamily="34" charset="0"/>
                <a:cs typeface="TimesNewRomanPS-BoldMT"/>
              </a:rPr>
              <a:t>Immersive Experiences</a:t>
            </a:r>
            <a:r>
              <a:rPr lang="en-IN" sz="1800" kern="0" dirty="0">
                <a:effectLst/>
                <a:latin typeface="TimesNewRomanPS-BoldMT"/>
                <a:ea typeface="Calibri" panose="020F0502020204030204" pitchFamily="34" charset="0"/>
                <a:cs typeface="TimesNewRomanPS-BoldMT"/>
              </a:rPr>
              <a:t>: Users can enjoy highly immersive and interactive experiences that can simulate real-world travel.</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Arial" panose="020B0604020202020204" pitchFamily="34" charset="0"/>
              <a:buChar char="•"/>
              <a:tabLst>
                <a:tab pos="1879600" algn="l"/>
              </a:tabLst>
            </a:pPr>
            <a:r>
              <a:rPr lang="en-IN" sz="1800" b="1" kern="0" dirty="0">
                <a:effectLst/>
                <a:latin typeface="TimesNewRomanPS-BoldMT"/>
                <a:ea typeface="Calibri" panose="020F0502020204030204" pitchFamily="34" charset="0"/>
                <a:cs typeface="TimesNewRomanPS-BoldMT"/>
              </a:rPr>
              <a:t>Cultural Exchange</a:t>
            </a:r>
            <a:r>
              <a:rPr lang="en-IN" sz="1800" kern="0" dirty="0">
                <a:effectLst/>
                <a:latin typeface="TimesNewRomanPS-BoldMT"/>
                <a:ea typeface="Calibri" panose="020F0502020204030204" pitchFamily="34" charset="0"/>
                <a:cs typeface="TimesNewRomanPS-BoldMT"/>
              </a:rPr>
              <a:t>: Meta-tourism allows users to explore and learn about different cultures and historical sites, promoting cultural understanding and appreciation.</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Arial" panose="020B0604020202020204" pitchFamily="34" charset="0"/>
              <a:buChar char="•"/>
              <a:tabLst>
                <a:tab pos="1879600" algn="l"/>
              </a:tabLst>
            </a:pPr>
            <a:r>
              <a:rPr lang="en-IN" sz="1800" b="1" kern="0" dirty="0">
                <a:effectLst/>
                <a:latin typeface="TimesNewRomanPS-BoldMT"/>
                <a:ea typeface="Calibri" panose="020F0502020204030204" pitchFamily="34" charset="0"/>
                <a:cs typeface="TimesNewRomanPS-BoldMT"/>
              </a:rPr>
              <a:t>Environmental Sustainability</a:t>
            </a:r>
            <a:r>
              <a:rPr lang="en-IN" sz="1800" kern="0" dirty="0">
                <a:effectLst/>
                <a:latin typeface="TimesNewRomanPS-BoldMT"/>
                <a:ea typeface="Calibri" panose="020F0502020204030204" pitchFamily="34" charset="0"/>
                <a:cs typeface="TimesNewRomanPS-BoldMT"/>
              </a:rPr>
              <a:t>: It offers a more eco-friendly alternative to physical travel, reducing carbon emissions and environmental impact.</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Arial" panose="020B0604020202020204" pitchFamily="34" charset="0"/>
              <a:buChar char="•"/>
              <a:tabLst>
                <a:tab pos="1879600" algn="l"/>
              </a:tabLst>
            </a:pPr>
            <a:r>
              <a:rPr lang="en-IN" sz="1800" b="1" kern="0" dirty="0">
                <a:effectLst/>
                <a:latin typeface="TimesNewRomanPS-BoldMT"/>
                <a:ea typeface="Calibri" panose="020F0502020204030204" pitchFamily="34" charset="0"/>
                <a:cs typeface="TimesNewRomanPS-BoldMT"/>
              </a:rPr>
              <a:t>Innovative Education</a:t>
            </a:r>
            <a:r>
              <a:rPr lang="en-IN" sz="1800" kern="0" dirty="0">
                <a:effectLst/>
                <a:latin typeface="TimesNewRomanPS-BoldMT"/>
                <a:ea typeface="Calibri" panose="020F0502020204030204" pitchFamily="34" charset="0"/>
                <a:cs typeface="TimesNewRomanPS-BoldMT"/>
              </a:rPr>
              <a:t>: It serves as an educational tool by offering virtual field trips and interactive learning experiences, making education more engaging.</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buFont typeface="Arial" panose="020B0604020202020204" pitchFamily="34" charset="0"/>
              <a:buChar char="•"/>
              <a:tabLst>
                <a:tab pos="1879600" algn="l"/>
              </a:tabLst>
            </a:pPr>
            <a:r>
              <a:rPr lang="en-IN" sz="1800" b="1" kern="0" dirty="0">
                <a:effectLst/>
                <a:latin typeface="TimesNewRomanPS-BoldMT"/>
                <a:ea typeface="Calibri" panose="020F0502020204030204" pitchFamily="34" charset="0"/>
                <a:cs typeface="TimesNewRomanPS-BoldMT"/>
              </a:rPr>
              <a:t>Creative Storytelling</a:t>
            </a:r>
            <a:r>
              <a:rPr lang="en-IN" sz="1800" kern="0" dirty="0">
                <a:effectLst/>
                <a:latin typeface="TimesNewRomanPS-BoldMT"/>
                <a:ea typeface="Calibri" panose="020F0502020204030204" pitchFamily="34" charset="0"/>
                <a:cs typeface="TimesNewRomanPS-BoldMT"/>
              </a:rPr>
              <a:t>: Developers can craft immersive narratives around destinations, blending history, mythology, and fiction to create compelling virtual tourism experiences.</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8194" name="Picture 2" descr="Advantage icon PNG and SVG Vector Free Download">
            <a:extLst>
              <a:ext uri="{FF2B5EF4-FFF2-40B4-BE49-F238E27FC236}">
                <a16:creationId xmlns:a16="http://schemas.microsoft.com/office/drawing/2014/main" id="{3A03AD5F-1909-0CC6-945D-CFC2F43ECC38}"/>
              </a:ext>
            </a:extLst>
          </p:cNvPr>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54015" y="209129"/>
            <a:ext cx="879676" cy="808249"/>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950E11EF-62A1-56FC-E0B3-DD6A7E5A455D}"/>
              </a:ext>
            </a:extLst>
          </p:cNvPr>
          <p:cNvSpPr>
            <a:spLocks noGrp="1"/>
          </p:cNvSpPr>
          <p:nvPr>
            <p:ph type="ftr" sz="quarter" idx="11"/>
          </p:nvPr>
        </p:nvSpPr>
        <p:spPr/>
        <p:txBody>
          <a:bodyPr/>
          <a:lstStyle/>
          <a:p>
            <a:r>
              <a:rPr lang="en-IN"/>
              <a:t>Meta-Tourism</a:t>
            </a:r>
          </a:p>
        </p:txBody>
      </p:sp>
      <p:sp>
        <p:nvSpPr>
          <p:cNvPr id="5" name="Slide Number Placeholder 4">
            <a:extLst>
              <a:ext uri="{FF2B5EF4-FFF2-40B4-BE49-F238E27FC236}">
                <a16:creationId xmlns:a16="http://schemas.microsoft.com/office/drawing/2014/main" id="{78F63133-64AA-F0BE-4268-C42897DD9F57}"/>
              </a:ext>
            </a:extLst>
          </p:cNvPr>
          <p:cNvSpPr>
            <a:spLocks noGrp="1"/>
          </p:cNvSpPr>
          <p:nvPr>
            <p:ph type="sldNum" sz="quarter" idx="12"/>
          </p:nvPr>
        </p:nvSpPr>
        <p:spPr/>
        <p:txBody>
          <a:bodyPr/>
          <a:lstStyle/>
          <a:p>
            <a:fld id="{43321D51-0D33-47F4-8293-F27514F5326D}" type="slidenum">
              <a:rPr lang="en-IN" smtClean="0"/>
              <a:t>20</a:t>
            </a:fld>
            <a:endParaRPr lang="en-IN"/>
          </a:p>
        </p:txBody>
      </p:sp>
    </p:spTree>
    <p:extLst>
      <p:ext uri="{BB962C8B-B14F-4D97-AF65-F5344CB8AC3E}">
        <p14:creationId xmlns:p14="http://schemas.microsoft.com/office/powerpoint/2010/main" val="1681814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15 Metaverse Companies to Know | Built In">
            <a:extLst>
              <a:ext uri="{FF2B5EF4-FFF2-40B4-BE49-F238E27FC236}">
                <a16:creationId xmlns:a16="http://schemas.microsoft.com/office/drawing/2014/main" id="{2223F8F3-2FE3-4C6C-FC30-1BE67642F557}"/>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5966011" y="790970"/>
            <a:ext cx="6341174" cy="3329117"/>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Disadvantages</a:t>
            </a:r>
            <a:endParaRPr lang="en-US" b="1" dirty="0"/>
          </a:p>
        </p:txBody>
      </p:sp>
      <p:sp>
        <p:nvSpPr>
          <p:cNvPr id="4" name="TextBox 3">
            <a:extLst>
              <a:ext uri="{FF2B5EF4-FFF2-40B4-BE49-F238E27FC236}">
                <a16:creationId xmlns:a16="http://schemas.microsoft.com/office/drawing/2014/main" id="{F0455F27-27DB-7B7F-4BC3-BCCDE19D686B}"/>
              </a:ext>
            </a:extLst>
          </p:cNvPr>
          <p:cNvSpPr txBox="1"/>
          <p:nvPr/>
        </p:nvSpPr>
        <p:spPr>
          <a:xfrm>
            <a:off x="395468" y="1310031"/>
            <a:ext cx="11401063" cy="4556825"/>
          </a:xfrm>
          <a:prstGeom prst="rect">
            <a:avLst/>
          </a:prstGeom>
          <a:noFill/>
        </p:spPr>
        <p:txBody>
          <a:bodyPr wrap="square">
            <a:spAutoFit/>
          </a:bodyPr>
          <a:lstStyle/>
          <a:p>
            <a:pPr marL="285750" lvl="0" indent="-285750" algn="just">
              <a:lnSpc>
                <a:spcPct val="150000"/>
              </a:lnSpc>
              <a:spcBef>
                <a:spcPts val="1200"/>
              </a:spcBef>
              <a:spcAft>
                <a:spcPts val="800"/>
              </a:spcAft>
              <a:buFont typeface="Arial" panose="020B0604020202020204" pitchFamily="34" charset="0"/>
              <a:buChar char="•"/>
              <a:tabLst>
                <a:tab pos="1879600" algn="l"/>
              </a:tabLst>
            </a:pPr>
            <a:r>
              <a:rPr lang="en-IN" sz="1800" b="1" kern="0" dirty="0">
                <a:effectLst/>
                <a:latin typeface="TimesNewRomanPS-BoldMT"/>
                <a:ea typeface="Calibri" panose="020F0502020204030204" pitchFamily="34" charset="0"/>
                <a:cs typeface="TimesNewRomanPS-BoldMT"/>
              </a:rPr>
              <a:t>Technical Requirements</a:t>
            </a:r>
            <a:r>
              <a:rPr lang="en-IN" sz="1800" kern="0" dirty="0">
                <a:effectLst/>
                <a:latin typeface="TimesNewRomanPS-BoldMT"/>
                <a:ea typeface="Calibri" panose="020F0502020204030204" pitchFamily="34" charset="0"/>
                <a:cs typeface="TimesNewRomanPS-BoldMT"/>
              </a:rPr>
              <a:t>: Meta-tourism relies on advanced technology, including virtual reality (VR) and augmented reality (AR) equipment. This can be a limitation for users who do not have access to the necessary hardware or reliable internet connections. </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marL="285750" lvl="0" indent="-285750" algn="just">
              <a:lnSpc>
                <a:spcPct val="150000"/>
              </a:lnSpc>
              <a:spcBef>
                <a:spcPts val="1200"/>
              </a:spcBef>
              <a:spcAft>
                <a:spcPts val="800"/>
              </a:spcAft>
              <a:buFont typeface="Arial" panose="020B0604020202020204" pitchFamily="34" charset="0"/>
              <a:buChar char="•"/>
              <a:tabLst>
                <a:tab pos="1879600" algn="l"/>
              </a:tabLst>
            </a:pPr>
            <a:r>
              <a:rPr lang="en-IN" sz="1800" b="1" kern="0" dirty="0">
                <a:effectLst/>
                <a:latin typeface="TimesNewRomanPS-BoldMT"/>
                <a:ea typeface="Calibri" panose="020F0502020204030204" pitchFamily="34" charset="0"/>
                <a:cs typeface="TimesNewRomanPS-BoldMT"/>
              </a:rPr>
              <a:t>Content Quality</a:t>
            </a:r>
            <a:r>
              <a:rPr lang="en-IN" sz="1800" kern="0" dirty="0">
                <a:effectLst/>
                <a:latin typeface="TimesNewRomanPS-BoldMT"/>
                <a:ea typeface="Calibri" panose="020F0502020204030204" pitchFamily="34" charset="0"/>
                <a:cs typeface="TimesNewRomanPS-BoldMT"/>
              </a:rPr>
              <a:t>: The quality of virtual destinations and experiences can vary widely. Some may be highly immersive and engaging, while others may lack depth and realism, leading to inconsistent user experiences.</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marL="285750" lvl="0" indent="-285750" algn="just">
              <a:lnSpc>
                <a:spcPct val="150000"/>
              </a:lnSpc>
              <a:spcBef>
                <a:spcPts val="1200"/>
              </a:spcBef>
              <a:spcAft>
                <a:spcPts val="800"/>
              </a:spcAft>
              <a:buFont typeface="Arial" panose="020B0604020202020204" pitchFamily="34" charset="0"/>
              <a:buChar char="•"/>
              <a:tabLst>
                <a:tab pos="1879600" algn="l"/>
              </a:tabLst>
            </a:pPr>
            <a:r>
              <a:rPr lang="en-IN" sz="1800" b="1" kern="0" dirty="0">
                <a:effectLst/>
                <a:latin typeface="TimesNewRomanPS-BoldMT"/>
                <a:ea typeface="Calibri" panose="020F0502020204030204" pitchFamily="34" charset="0"/>
                <a:cs typeface="TimesNewRomanPS-BoldMT"/>
              </a:rPr>
              <a:t>Dependence on Technology</a:t>
            </a:r>
            <a:r>
              <a:rPr lang="en-IN" sz="1800" kern="0" dirty="0">
                <a:effectLst/>
                <a:latin typeface="TimesNewRomanPS-BoldMT"/>
                <a:ea typeface="Calibri" panose="020F0502020204030204" pitchFamily="34" charset="0"/>
                <a:cs typeface="TimesNewRomanPS-BoldMT"/>
              </a:rPr>
              <a:t>: The success of Meta-tourism is highly dependent on technology advancements. Any disruptions or failures in technology can impact the user experience and the reliability of the platform</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p>
            <a:pPr marL="285750" lvl="0" indent="-285750" algn="just">
              <a:lnSpc>
                <a:spcPct val="150000"/>
              </a:lnSpc>
              <a:spcBef>
                <a:spcPts val="1200"/>
              </a:spcBef>
              <a:spcAft>
                <a:spcPts val="800"/>
              </a:spcAft>
              <a:buFont typeface="Arial" panose="020B0604020202020204" pitchFamily="34" charset="0"/>
              <a:buChar char="•"/>
              <a:tabLst>
                <a:tab pos="1879600" algn="l"/>
              </a:tabLst>
            </a:pPr>
            <a:r>
              <a:rPr lang="en-IN" sz="1800" b="1" kern="0" dirty="0">
                <a:effectLst/>
                <a:latin typeface="TimesNewRomanPS-BoldMT"/>
                <a:ea typeface="Calibri" panose="020F0502020204030204" pitchFamily="34" charset="0"/>
                <a:cs typeface="TimesNewRomanPS-BoldMT"/>
              </a:rPr>
              <a:t>Lack of Regulation</a:t>
            </a:r>
            <a:r>
              <a:rPr lang="en-IN" sz="1800" kern="0" dirty="0">
                <a:effectLst/>
                <a:latin typeface="TimesNewRomanPS-BoldMT"/>
                <a:ea typeface="Calibri" panose="020F0502020204030204" pitchFamily="34" charset="0"/>
                <a:cs typeface="TimesNewRomanPS-BoldMT"/>
              </a:rPr>
              <a:t>: The Meta-tourism industry is relatively new, and there may be a lack of standardized regulations. This can lead to issues related to content quality, safety, and ethical considerations.</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7170" name="Picture 2" descr="Disadvantage Icons - Free SVG &amp; PNG Disadvantage Images - Noun Project">
            <a:extLst>
              <a:ext uri="{FF2B5EF4-FFF2-40B4-BE49-F238E27FC236}">
                <a16:creationId xmlns:a16="http://schemas.microsoft.com/office/drawing/2014/main" id="{B438B935-7AD2-EFD4-B675-A7445DD0E3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470" y="276229"/>
            <a:ext cx="787078" cy="787078"/>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3D65914B-3EF0-73F7-72B3-079EC506E6E9}"/>
              </a:ext>
            </a:extLst>
          </p:cNvPr>
          <p:cNvSpPr>
            <a:spLocks noGrp="1"/>
          </p:cNvSpPr>
          <p:nvPr>
            <p:ph type="ftr" sz="quarter" idx="11"/>
          </p:nvPr>
        </p:nvSpPr>
        <p:spPr/>
        <p:txBody>
          <a:bodyPr/>
          <a:lstStyle/>
          <a:p>
            <a:r>
              <a:rPr lang="en-IN"/>
              <a:t>Meta-Tourism</a:t>
            </a:r>
          </a:p>
        </p:txBody>
      </p:sp>
      <p:sp>
        <p:nvSpPr>
          <p:cNvPr id="5" name="Slide Number Placeholder 4">
            <a:extLst>
              <a:ext uri="{FF2B5EF4-FFF2-40B4-BE49-F238E27FC236}">
                <a16:creationId xmlns:a16="http://schemas.microsoft.com/office/drawing/2014/main" id="{A67AC815-AA39-CA73-7A7D-C212C5557A17}"/>
              </a:ext>
            </a:extLst>
          </p:cNvPr>
          <p:cNvSpPr>
            <a:spLocks noGrp="1"/>
          </p:cNvSpPr>
          <p:nvPr>
            <p:ph type="sldNum" sz="quarter" idx="12"/>
          </p:nvPr>
        </p:nvSpPr>
        <p:spPr/>
        <p:txBody>
          <a:bodyPr/>
          <a:lstStyle/>
          <a:p>
            <a:fld id="{43321D51-0D33-47F4-8293-F27514F5326D}" type="slidenum">
              <a:rPr lang="en-IN" smtClean="0"/>
              <a:t>21</a:t>
            </a:fld>
            <a:endParaRPr lang="en-IN"/>
          </a:p>
        </p:txBody>
      </p:sp>
    </p:spTree>
    <p:extLst>
      <p:ext uri="{BB962C8B-B14F-4D97-AF65-F5344CB8AC3E}">
        <p14:creationId xmlns:p14="http://schemas.microsoft.com/office/powerpoint/2010/main" val="3088166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15 Metaverse Companies to Know | Built In">
            <a:extLst>
              <a:ext uri="{FF2B5EF4-FFF2-40B4-BE49-F238E27FC236}">
                <a16:creationId xmlns:a16="http://schemas.microsoft.com/office/drawing/2014/main" id="{F97D306D-18A3-39C1-1F0C-60F96F29AEAB}"/>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5966011" y="790970"/>
            <a:ext cx="6341174" cy="3329117"/>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Applications</a:t>
            </a:r>
          </a:p>
          <a:p>
            <a:endParaRPr lang="en-US" b="1" dirty="0"/>
          </a:p>
        </p:txBody>
      </p:sp>
      <p:sp>
        <p:nvSpPr>
          <p:cNvPr id="4" name="TextBox 3">
            <a:extLst>
              <a:ext uri="{FF2B5EF4-FFF2-40B4-BE49-F238E27FC236}">
                <a16:creationId xmlns:a16="http://schemas.microsoft.com/office/drawing/2014/main" id="{C7ABC2E6-FED5-A722-CBD1-6EDC6EB57328}"/>
              </a:ext>
            </a:extLst>
          </p:cNvPr>
          <p:cNvSpPr txBox="1"/>
          <p:nvPr/>
        </p:nvSpPr>
        <p:spPr>
          <a:xfrm>
            <a:off x="451413" y="912102"/>
            <a:ext cx="11509094" cy="5151795"/>
          </a:xfrm>
          <a:prstGeom prst="rect">
            <a:avLst/>
          </a:prstGeom>
          <a:noFill/>
        </p:spPr>
        <p:txBody>
          <a:bodyPr wrap="square">
            <a:spAutoFit/>
          </a:bodyPr>
          <a:lstStyle/>
          <a:p>
            <a:pPr marL="342900" lvl="0" indent="-342900" algn="just">
              <a:lnSpc>
                <a:spcPct val="150000"/>
              </a:lnSpc>
              <a:buFont typeface="Arial" panose="020B0604020202020204" pitchFamily="34" charset="0"/>
              <a:buChar char="•"/>
              <a:tabLst>
                <a:tab pos="1879600" algn="l"/>
              </a:tabLst>
            </a:pPr>
            <a:r>
              <a:rPr lang="en-IN" sz="1700" b="1" kern="100" dirty="0">
                <a:effectLst/>
                <a:latin typeface="TimesNewRomanPS-BoldMT"/>
                <a:ea typeface="Calibri" panose="020F0502020204030204" pitchFamily="34" charset="0"/>
                <a:cs typeface="TimesNewRomanPS-BoldMT"/>
              </a:rPr>
              <a:t>Virtual Travel Experiences: </a:t>
            </a:r>
            <a:r>
              <a:rPr lang="en-IN" sz="1700" kern="100" dirty="0">
                <a:effectLst/>
                <a:latin typeface="TimesNewRomanPS-BoldMT"/>
                <a:ea typeface="Calibri" panose="020F0502020204030204" pitchFamily="34" charset="0"/>
                <a:cs typeface="TimesNewRomanPS-BoldMT"/>
              </a:rPr>
              <a:t>Meta-tourism allows users to explore virtual replicas of real-world destinations, providing an immersive and interactive way to travel the globe without leaving their homes. Users can visit famous landmarks, historical sites, and exotic locations virtually.</a:t>
            </a:r>
            <a:endParaRPr lang="en-IN" sz="17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Arial" panose="020B0604020202020204" pitchFamily="34" charset="0"/>
              <a:buChar char="•"/>
              <a:tabLst>
                <a:tab pos="1879600" algn="l"/>
              </a:tabLst>
            </a:pPr>
            <a:r>
              <a:rPr lang="en-IN" sz="1700" b="1" kern="100" dirty="0">
                <a:effectLst/>
                <a:latin typeface="TimesNewRomanPS-BoldMT"/>
                <a:ea typeface="Calibri" panose="020F0502020204030204" pitchFamily="34" charset="0"/>
                <a:cs typeface="TimesNewRomanPS-BoldMT"/>
              </a:rPr>
              <a:t>Cultural Exchange</a:t>
            </a:r>
            <a:r>
              <a:rPr lang="en-IN" sz="1700" kern="100" dirty="0">
                <a:effectLst/>
                <a:latin typeface="TimesNewRomanPS-BoldMT"/>
                <a:ea typeface="Calibri" panose="020F0502020204030204" pitchFamily="34" charset="0"/>
                <a:cs typeface="TimesNewRomanPS-BoldMT"/>
              </a:rPr>
              <a:t>: Meta-tourism fosters cultural understanding and appreciation by enabling users to engage with and learn about different cultures, traditions, and historical sites. It provides a platform for cross-cultural interactions and learning.</a:t>
            </a:r>
            <a:endParaRPr lang="en-IN" sz="17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Arial" panose="020B0604020202020204" pitchFamily="34" charset="0"/>
              <a:buChar char="•"/>
              <a:tabLst>
                <a:tab pos="1879600" algn="l"/>
              </a:tabLst>
            </a:pPr>
            <a:r>
              <a:rPr lang="en-IN" sz="1700" b="1" kern="100" dirty="0">
                <a:effectLst/>
                <a:latin typeface="TimesNewRomanPS-BoldMT"/>
                <a:ea typeface="Calibri" panose="020F0502020204030204" pitchFamily="34" charset="0"/>
                <a:cs typeface="TimesNewRomanPS-BoldMT"/>
              </a:rPr>
              <a:t>Environmental Sustainability</a:t>
            </a:r>
            <a:r>
              <a:rPr lang="en-IN" sz="1700" kern="100" dirty="0">
                <a:effectLst/>
                <a:latin typeface="TimesNewRomanPS-BoldMT"/>
                <a:ea typeface="Calibri" panose="020F0502020204030204" pitchFamily="34" charset="0"/>
                <a:cs typeface="TimesNewRomanPS-BoldMT"/>
              </a:rPr>
              <a:t>: As a more sustainable alternative to physical travel, Meta-tourism reduces the carbon footprint associated with tourism. Users can enjoy travel experiences without contributing to environmental impacts, making it an eco-friendly option.</a:t>
            </a:r>
            <a:endParaRPr lang="en-IN" sz="17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Arial" panose="020B0604020202020204" pitchFamily="34" charset="0"/>
              <a:buChar char="•"/>
              <a:tabLst>
                <a:tab pos="1879600" algn="l"/>
              </a:tabLst>
            </a:pPr>
            <a:r>
              <a:rPr lang="en-IN" sz="1700" b="1" kern="100" dirty="0">
                <a:effectLst/>
                <a:latin typeface="TimesNewRomanPS-BoldMT"/>
                <a:ea typeface="Calibri" panose="020F0502020204030204" pitchFamily="34" charset="0"/>
                <a:cs typeface="TimesNewRomanPS-BoldMT"/>
              </a:rPr>
              <a:t>Education:</a:t>
            </a:r>
            <a:r>
              <a:rPr lang="en-IN" sz="1700" kern="100" dirty="0">
                <a:effectLst/>
                <a:latin typeface="TimesNewRomanPS-BoldMT"/>
                <a:ea typeface="Calibri" panose="020F0502020204030204" pitchFamily="34" charset="0"/>
                <a:cs typeface="TimesNewRomanPS-BoldMT"/>
              </a:rPr>
              <a:t> </a:t>
            </a:r>
            <a:r>
              <a:rPr lang="en-IN" sz="1700" kern="100" dirty="0" err="1">
                <a:effectLst/>
                <a:latin typeface="TimesNewRomanPS-BoldMT"/>
                <a:ea typeface="Calibri" panose="020F0502020204030204" pitchFamily="34" charset="0"/>
                <a:cs typeface="TimesNewRomanPS-BoldMT"/>
              </a:rPr>
              <a:t>Metatourism</a:t>
            </a:r>
            <a:r>
              <a:rPr lang="en-IN" sz="1700" kern="100" dirty="0">
                <a:effectLst/>
                <a:latin typeface="TimesNewRomanPS-BoldMT"/>
                <a:ea typeface="Calibri" panose="020F0502020204030204" pitchFamily="34" charset="0"/>
                <a:cs typeface="TimesNewRomanPS-BoldMT"/>
              </a:rPr>
              <a:t> serves as an educational tool by offering virtual field trips and interactive learning experiences. It complements traditional education methods, making learning more engaging and accessible to students worldwide.</a:t>
            </a:r>
            <a:endParaRPr lang="en-IN" sz="17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buFont typeface="Arial" panose="020B0604020202020204" pitchFamily="34" charset="0"/>
              <a:buChar char="•"/>
              <a:tabLst>
                <a:tab pos="1879600" algn="l"/>
              </a:tabLst>
            </a:pPr>
            <a:r>
              <a:rPr lang="en-IN" sz="1700" b="1" kern="100" dirty="0">
                <a:effectLst/>
                <a:latin typeface="TimesNewRomanPS-BoldMT"/>
                <a:ea typeface="Calibri" panose="020F0502020204030204" pitchFamily="34" charset="0"/>
                <a:cs typeface="TimesNewRomanPS-BoldMT"/>
              </a:rPr>
              <a:t>Creative Storytelling: </a:t>
            </a:r>
            <a:r>
              <a:rPr lang="en-IN" sz="1700" kern="100" dirty="0">
                <a:effectLst/>
                <a:latin typeface="TimesNewRomanPS-BoldMT"/>
                <a:ea typeface="Calibri" panose="020F0502020204030204" pitchFamily="34" charset="0"/>
                <a:cs typeface="TimesNewRomanPS-BoldMT"/>
              </a:rPr>
              <a:t>Developers can craft immersive narratives around virtual destinations, blending history, mythology, and fiction. This creative storytelling enhances the user experience and opens up possibilities for innovative storytelling techniques.</a:t>
            </a:r>
            <a:endParaRPr lang="en-IN" sz="1700" kern="1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19458" name="Picture 2" descr="Application Icons - Free SVG &amp; PNG Application Images - Noun Project">
            <a:extLst>
              <a:ext uri="{FF2B5EF4-FFF2-40B4-BE49-F238E27FC236}">
                <a16:creationId xmlns:a16="http://schemas.microsoft.com/office/drawing/2014/main" id="{72CC6F02-DEAD-2DED-E3AA-12B217B6C7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 y="125336"/>
            <a:ext cx="786766" cy="786766"/>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206E45B6-DA0E-B7BC-44A9-771A51F5083E}"/>
              </a:ext>
            </a:extLst>
          </p:cNvPr>
          <p:cNvSpPr>
            <a:spLocks noGrp="1"/>
          </p:cNvSpPr>
          <p:nvPr>
            <p:ph type="ftr" sz="quarter" idx="11"/>
          </p:nvPr>
        </p:nvSpPr>
        <p:spPr/>
        <p:txBody>
          <a:bodyPr/>
          <a:lstStyle/>
          <a:p>
            <a:r>
              <a:rPr lang="en-IN"/>
              <a:t>Meta-Tourism</a:t>
            </a:r>
          </a:p>
        </p:txBody>
      </p:sp>
      <p:sp>
        <p:nvSpPr>
          <p:cNvPr id="5" name="Slide Number Placeholder 4">
            <a:extLst>
              <a:ext uri="{FF2B5EF4-FFF2-40B4-BE49-F238E27FC236}">
                <a16:creationId xmlns:a16="http://schemas.microsoft.com/office/drawing/2014/main" id="{EE436F96-A7DF-EECB-9B9C-97A1D338FD08}"/>
              </a:ext>
            </a:extLst>
          </p:cNvPr>
          <p:cNvSpPr>
            <a:spLocks noGrp="1"/>
          </p:cNvSpPr>
          <p:nvPr>
            <p:ph type="sldNum" sz="quarter" idx="12"/>
          </p:nvPr>
        </p:nvSpPr>
        <p:spPr/>
        <p:txBody>
          <a:bodyPr/>
          <a:lstStyle/>
          <a:p>
            <a:fld id="{43321D51-0D33-47F4-8293-F27514F5326D}" type="slidenum">
              <a:rPr lang="en-IN" smtClean="0"/>
              <a:t>22</a:t>
            </a:fld>
            <a:endParaRPr lang="en-IN"/>
          </a:p>
        </p:txBody>
      </p:sp>
    </p:spTree>
    <p:extLst>
      <p:ext uri="{BB962C8B-B14F-4D97-AF65-F5344CB8AC3E}">
        <p14:creationId xmlns:p14="http://schemas.microsoft.com/office/powerpoint/2010/main" val="1395925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15 Metaverse Companies to Know | Built In">
            <a:extLst>
              <a:ext uri="{FF2B5EF4-FFF2-40B4-BE49-F238E27FC236}">
                <a16:creationId xmlns:a16="http://schemas.microsoft.com/office/drawing/2014/main" id="{66D919A3-B4A7-AE10-8D35-A976F4449ADC}"/>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5966011" y="790970"/>
            <a:ext cx="6341174" cy="3329117"/>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Future Scope</a:t>
            </a:r>
          </a:p>
          <a:p>
            <a:endParaRPr lang="en-US" b="1" dirty="0"/>
          </a:p>
        </p:txBody>
      </p:sp>
      <p:pic>
        <p:nvPicPr>
          <p:cNvPr id="6146" name="Picture 2" descr="Future icons">
            <a:extLst>
              <a:ext uri="{FF2B5EF4-FFF2-40B4-BE49-F238E27FC236}">
                <a16:creationId xmlns:a16="http://schemas.microsoft.com/office/drawing/2014/main" id="{4B2C1EA8-A74F-59B1-4675-08D8C59021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238" y="138414"/>
            <a:ext cx="786766" cy="7867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98FD210-11F9-132D-2DC2-3547BED35949}"/>
              </a:ext>
            </a:extLst>
          </p:cNvPr>
          <p:cNvSpPr txBox="1"/>
          <p:nvPr/>
        </p:nvSpPr>
        <p:spPr>
          <a:xfrm>
            <a:off x="536621" y="925180"/>
            <a:ext cx="11408452" cy="5936625"/>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1700" b="1" kern="100" dirty="0">
                <a:effectLst/>
                <a:latin typeface="Times New Roman" panose="02020603050405020304" pitchFamily="18" charset="0"/>
                <a:ea typeface="Calibri" panose="020F0502020204030204" pitchFamily="34" charset="0"/>
                <a:cs typeface="Mangal" panose="02040503050203030202" pitchFamily="18" charset="0"/>
              </a:rPr>
              <a:t>Advanced Immersion</a:t>
            </a:r>
            <a:r>
              <a:rPr lang="en-IN" sz="1700" kern="100" dirty="0">
                <a:effectLst/>
                <a:latin typeface="Times New Roman" panose="02020603050405020304" pitchFamily="18" charset="0"/>
                <a:ea typeface="Calibri" panose="020F0502020204030204" pitchFamily="34" charset="0"/>
                <a:cs typeface="Mangal" panose="02040503050203030202" pitchFamily="18" charset="0"/>
              </a:rPr>
              <a:t>: As virtual reality (VR) and augmented reality (AR) technologies evolve, Meta-tourism experiences will become even more immersive. Users can expect higher-quality graphics, improved interaction, and a greater sense of presence, making virtual travel almost indistinguishable from real-world experiences. </a:t>
            </a:r>
            <a:endParaRPr lang="en-IN" sz="17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Arial" panose="020B0604020202020204" pitchFamily="34" charset="0"/>
              <a:buChar char="•"/>
            </a:pPr>
            <a:r>
              <a:rPr lang="en-IN" sz="1700" b="1" kern="100" dirty="0">
                <a:effectLst/>
                <a:latin typeface="Times New Roman" panose="02020603050405020304" pitchFamily="18" charset="0"/>
                <a:ea typeface="Calibri" panose="020F0502020204030204" pitchFamily="34" charset="0"/>
                <a:cs typeface="Mangal" panose="02040503050203030202" pitchFamily="18" charset="0"/>
              </a:rPr>
              <a:t>Hyper-Personalization</a:t>
            </a:r>
            <a:r>
              <a:rPr lang="en-IN" sz="1700" kern="100" dirty="0">
                <a:effectLst/>
                <a:latin typeface="Times New Roman" panose="02020603050405020304" pitchFamily="18" charset="0"/>
                <a:ea typeface="Calibri" panose="020F0502020204030204" pitchFamily="34" charset="0"/>
                <a:cs typeface="Mangal" panose="02040503050203030202" pitchFamily="18" charset="0"/>
              </a:rPr>
              <a:t>: Future metaverse platforms will offer hyper-personalized travel experiences. AI and data analytics will enable platforms to understand users' preferences, allowing for tailored itineraries and content. Users can explore destinations and activities that align with their individual interests.  </a:t>
            </a:r>
            <a:endParaRPr lang="en-IN" sz="17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Arial" panose="020B0604020202020204" pitchFamily="34" charset="0"/>
              <a:buChar char="•"/>
            </a:pPr>
            <a:r>
              <a:rPr lang="en-IN" sz="1700" b="1" kern="100" dirty="0">
                <a:effectLst/>
                <a:latin typeface="Times New Roman" panose="02020603050405020304" pitchFamily="18" charset="0"/>
                <a:ea typeface="Calibri" panose="020F0502020204030204" pitchFamily="34" charset="0"/>
                <a:cs typeface="Mangal" panose="02040503050203030202" pitchFamily="18" charset="0"/>
              </a:rPr>
              <a:t>Seamless Social Interaction</a:t>
            </a:r>
            <a:r>
              <a:rPr lang="en-IN" sz="1700" kern="100" dirty="0">
                <a:effectLst/>
                <a:latin typeface="Times New Roman" panose="02020603050405020304" pitchFamily="18" charset="0"/>
                <a:ea typeface="Calibri" panose="020F0502020204030204" pitchFamily="34" charset="0"/>
                <a:cs typeface="Mangal" panose="02040503050203030202" pitchFamily="18" charset="0"/>
              </a:rPr>
              <a:t>: Meta-tourism will continue to prioritize social interaction. Users will engage with friends, family, and fellow </a:t>
            </a:r>
            <a:r>
              <a:rPr lang="en-IN" sz="1700" kern="100" dirty="0" err="1">
                <a:effectLst/>
                <a:latin typeface="Times New Roman" panose="02020603050405020304" pitchFamily="18" charset="0"/>
                <a:ea typeface="Calibri" panose="020F0502020204030204" pitchFamily="34" charset="0"/>
                <a:cs typeface="Mangal" panose="02040503050203030202" pitchFamily="18" charset="0"/>
              </a:rPr>
              <a:t>travelers</a:t>
            </a:r>
            <a:r>
              <a:rPr lang="en-IN" sz="1700" kern="100" dirty="0">
                <a:effectLst/>
                <a:latin typeface="Times New Roman" panose="02020603050405020304" pitchFamily="18" charset="0"/>
                <a:ea typeface="Calibri" panose="020F0502020204030204" pitchFamily="34" charset="0"/>
                <a:cs typeface="Mangal" panose="02040503050203030202" pitchFamily="18" charset="0"/>
              </a:rPr>
              <a:t> in shared virtual spaces. Live events, parties, and gatherings will become commonplace, making virtual tourism a social and recreational activity.</a:t>
            </a:r>
            <a:endParaRPr lang="en-IN" sz="17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buFont typeface="Arial" panose="020B0604020202020204" pitchFamily="34" charset="0"/>
              <a:buChar char="•"/>
            </a:pPr>
            <a:r>
              <a:rPr lang="en-IN" sz="1700" b="1" kern="100" dirty="0">
                <a:effectLst/>
                <a:latin typeface="Times New Roman" panose="02020603050405020304" pitchFamily="18" charset="0"/>
                <a:ea typeface="Calibri" panose="020F0502020204030204" pitchFamily="34" charset="0"/>
                <a:cs typeface="Mangal" panose="02040503050203030202" pitchFamily="18" charset="0"/>
              </a:rPr>
              <a:t>Integration with Real-World Travel</a:t>
            </a:r>
            <a:r>
              <a:rPr lang="en-IN" sz="1700" kern="100" dirty="0">
                <a:effectLst/>
                <a:latin typeface="Times New Roman" panose="02020603050405020304" pitchFamily="18" charset="0"/>
                <a:ea typeface="Calibri" panose="020F0502020204030204" pitchFamily="34" charset="0"/>
                <a:cs typeface="Mangal" panose="02040503050203030202" pitchFamily="18" charset="0"/>
              </a:rPr>
              <a:t>: The metaverse and real-world travel will become more interconnected. Users might explore a destination virtually before planning a physical trip or share their virtual experiences with others, inspiring real-world travel.</a:t>
            </a:r>
            <a:endParaRPr lang="en-IN" sz="17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buFont typeface="Arial" panose="020B0604020202020204" pitchFamily="34" charset="0"/>
              <a:buChar char="•"/>
            </a:pPr>
            <a:r>
              <a:rPr lang="en-IN" sz="1700" b="1" kern="100" dirty="0">
                <a:effectLst/>
                <a:latin typeface="Times New Roman" panose="02020603050405020304" pitchFamily="18" charset="0"/>
                <a:ea typeface="Calibri" panose="020F0502020204030204" pitchFamily="34" charset="0"/>
                <a:cs typeface="Mangal" panose="02040503050203030202" pitchFamily="18" charset="0"/>
              </a:rPr>
              <a:t>Global Cultural Exchange</a:t>
            </a:r>
            <a:r>
              <a:rPr lang="en-IN" sz="1700" kern="100" dirty="0">
                <a:effectLst/>
                <a:latin typeface="Times New Roman" panose="02020603050405020304" pitchFamily="18" charset="0"/>
                <a:ea typeface="Calibri" panose="020F0502020204030204" pitchFamily="34" charset="0"/>
                <a:cs typeface="Mangal" panose="02040503050203030202" pitchFamily="18" charset="0"/>
              </a:rPr>
              <a:t>: Cultural exchange will thrive as users worldwide can engage with and learn from each other. Virtual museum visits, language lessons, and celebrations of cultural events can occur in shared spaces, fostering understanding and appreciation.</a:t>
            </a:r>
            <a:endParaRPr lang="en-IN" sz="1700" kern="1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3" name="Footer Placeholder 2">
            <a:extLst>
              <a:ext uri="{FF2B5EF4-FFF2-40B4-BE49-F238E27FC236}">
                <a16:creationId xmlns:a16="http://schemas.microsoft.com/office/drawing/2014/main" id="{B3B011BC-1007-E948-13A5-F5398898CE93}"/>
              </a:ext>
            </a:extLst>
          </p:cNvPr>
          <p:cNvSpPr>
            <a:spLocks noGrp="1"/>
          </p:cNvSpPr>
          <p:nvPr>
            <p:ph type="ftr" sz="quarter" idx="11"/>
          </p:nvPr>
        </p:nvSpPr>
        <p:spPr/>
        <p:txBody>
          <a:bodyPr/>
          <a:lstStyle/>
          <a:p>
            <a:r>
              <a:rPr lang="en-IN"/>
              <a:t>Meta-Tourism</a:t>
            </a:r>
          </a:p>
        </p:txBody>
      </p:sp>
      <p:sp>
        <p:nvSpPr>
          <p:cNvPr id="5" name="Slide Number Placeholder 4">
            <a:extLst>
              <a:ext uri="{FF2B5EF4-FFF2-40B4-BE49-F238E27FC236}">
                <a16:creationId xmlns:a16="http://schemas.microsoft.com/office/drawing/2014/main" id="{9C5BC14C-5F4B-A1EA-994E-0BB67339AE25}"/>
              </a:ext>
            </a:extLst>
          </p:cNvPr>
          <p:cNvSpPr>
            <a:spLocks noGrp="1"/>
          </p:cNvSpPr>
          <p:nvPr>
            <p:ph type="sldNum" sz="quarter" idx="12"/>
          </p:nvPr>
        </p:nvSpPr>
        <p:spPr/>
        <p:txBody>
          <a:bodyPr/>
          <a:lstStyle/>
          <a:p>
            <a:fld id="{43321D51-0D33-47F4-8293-F27514F5326D}" type="slidenum">
              <a:rPr lang="en-IN" smtClean="0"/>
              <a:t>23</a:t>
            </a:fld>
            <a:endParaRPr lang="en-IN"/>
          </a:p>
        </p:txBody>
      </p:sp>
    </p:spTree>
    <p:extLst>
      <p:ext uri="{BB962C8B-B14F-4D97-AF65-F5344CB8AC3E}">
        <p14:creationId xmlns:p14="http://schemas.microsoft.com/office/powerpoint/2010/main" val="1819989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Five Key Takeaways from “The Metaverse: A View from the Inside” — GP  GENERATE">
            <a:extLst>
              <a:ext uri="{FF2B5EF4-FFF2-40B4-BE49-F238E27FC236}">
                <a16:creationId xmlns:a16="http://schemas.microsoft.com/office/drawing/2014/main" id="{C482D3D7-DD77-2A8F-0214-058E750EC50E}"/>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6630656" y="3328947"/>
            <a:ext cx="5382050" cy="3027403"/>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79139B-BFB3-324C-CE80-498755273FBF}"/>
              </a:ext>
            </a:extLst>
          </p:cNvPr>
          <p:cNvSpPr txBox="1">
            <a:spLocks/>
          </p:cNvSpPr>
          <p:nvPr/>
        </p:nvSpPr>
        <p:spPr>
          <a:xfrm>
            <a:off x="0" y="394178"/>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Conclusion</a:t>
            </a:r>
            <a:endParaRPr lang="en-US" b="1" dirty="0"/>
          </a:p>
        </p:txBody>
      </p:sp>
      <p:sp>
        <p:nvSpPr>
          <p:cNvPr id="6" name="TextBox 5">
            <a:extLst>
              <a:ext uri="{FF2B5EF4-FFF2-40B4-BE49-F238E27FC236}">
                <a16:creationId xmlns:a16="http://schemas.microsoft.com/office/drawing/2014/main" id="{B140D968-BBA9-33B9-2EF6-9D476644A9A0}"/>
              </a:ext>
            </a:extLst>
          </p:cNvPr>
          <p:cNvSpPr txBox="1"/>
          <p:nvPr/>
        </p:nvSpPr>
        <p:spPr>
          <a:xfrm>
            <a:off x="922116" y="1306063"/>
            <a:ext cx="10347768" cy="5157759"/>
          </a:xfrm>
          <a:prstGeom prst="rect">
            <a:avLst/>
          </a:prstGeom>
          <a:noFill/>
        </p:spPr>
        <p:txBody>
          <a:bodyPr wrap="square">
            <a:spAutoFit/>
          </a:bodyPr>
          <a:lstStyle/>
          <a:p>
            <a:pPr algn="just">
              <a:lnSpc>
                <a:spcPct val="150000"/>
              </a:lnSpc>
              <a:spcAft>
                <a:spcPts val="800"/>
              </a:spcAft>
            </a:pPr>
            <a:r>
              <a:rPr lang="en-IN" sz="1800" kern="0" dirty="0">
                <a:effectLst/>
                <a:latin typeface="TimesNewRomanPS-BoldMT"/>
                <a:ea typeface="Calibri" panose="020F0502020204030204" pitchFamily="34" charset="0"/>
                <a:cs typeface="TimesNewRomanPS-BoldMT"/>
              </a:rPr>
              <a:t>By addressing the gaps identified above, the Meta-verse can be transformed into a thriving new destination for tourists around the world. In addition to the above, here are some specific recommendations for Meta-verse tourism projects:</a:t>
            </a:r>
            <a:r>
              <a:rPr lang="en-IN" kern="100" dirty="0">
                <a:latin typeface="Calibri" panose="020F0502020204030204" pitchFamily="34" charset="0"/>
                <a:ea typeface="Calibri" panose="020F0502020204030204" pitchFamily="34" charset="0"/>
                <a:cs typeface="Mangal" panose="02040503050203030202" pitchFamily="18" charset="0"/>
              </a:rPr>
              <a:t> </a:t>
            </a:r>
            <a:r>
              <a:rPr lang="en-IN" sz="1800" kern="0" dirty="0">
                <a:effectLst/>
                <a:latin typeface="TimesNewRomanPS-BoldMT"/>
                <a:ea typeface="Calibri" panose="020F0502020204030204" pitchFamily="34" charset="0"/>
                <a:cs typeface="TimesNewRomanPS-BoldMT"/>
              </a:rPr>
              <a:t>Focus on creating immersive and engaging experiences: Meta-verse tourism experiences should be more than just virtual replicas of real-world destinations. They should be designed to transport users to new and exciting worlds, and to provide them with unique and memorable experiences. Partner with other businesses: Meta-verse tourism projects can benefit from partnering with other</a:t>
            </a:r>
            <a:r>
              <a:rPr lang="en-IN" kern="100" dirty="0">
                <a:latin typeface="Calibri" panose="020F0502020204030204" pitchFamily="34" charset="0"/>
                <a:ea typeface="Calibri" panose="020F0502020204030204" pitchFamily="34" charset="0"/>
                <a:cs typeface="Mangal" panose="02040503050203030202" pitchFamily="18" charset="0"/>
              </a:rPr>
              <a:t> </a:t>
            </a:r>
            <a:r>
              <a:rPr lang="en-IN" sz="1800" kern="0" dirty="0">
                <a:effectLst/>
                <a:latin typeface="TimesNewRomanPS-BoldMT"/>
                <a:ea typeface="Calibri" panose="020F0502020204030204" pitchFamily="34" charset="0"/>
                <a:cs typeface="TimesNewRomanPS-BoldMT"/>
              </a:rPr>
              <a:t>businesses, such as technology companies, social media platforms, and other tourism providers. This can help to increase awareness of the project, attract new users, and create more comprehensive and engaging experiences. Be innovative: The Meta-verse is a rapidly changing landscape, and Meta-verse tourism projects need to be innovative in order to stay ahead of the curve. This means constantly exploring new technologies and new ways to create immersive and engaging experiences for users.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indent="457200" algn="just">
              <a:lnSpc>
                <a:spcPct val="150000"/>
              </a:lnSpc>
              <a:spcAft>
                <a:spcPts val="800"/>
              </a:spcAft>
            </a:pP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5122" name="Picture 2" descr="Conclusion Icons - Free SVG &amp; PNG Conclusion Images - Noun Project">
            <a:extLst>
              <a:ext uri="{FF2B5EF4-FFF2-40B4-BE49-F238E27FC236}">
                <a16:creationId xmlns:a16="http://schemas.microsoft.com/office/drawing/2014/main" id="{C21F7778-F0F3-F314-2193-B2721E89E6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81" y="285290"/>
            <a:ext cx="799135" cy="799135"/>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85AF11AB-D2FE-80DC-C5C0-7B8FBADBDF5C}"/>
              </a:ext>
            </a:extLst>
          </p:cNvPr>
          <p:cNvSpPr>
            <a:spLocks noGrp="1"/>
          </p:cNvSpPr>
          <p:nvPr>
            <p:ph type="ftr" sz="quarter" idx="11"/>
          </p:nvPr>
        </p:nvSpPr>
        <p:spPr/>
        <p:txBody>
          <a:bodyPr/>
          <a:lstStyle/>
          <a:p>
            <a:r>
              <a:rPr lang="en-IN"/>
              <a:t>Meta-Tourism</a:t>
            </a:r>
          </a:p>
        </p:txBody>
      </p:sp>
      <p:sp>
        <p:nvSpPr>
          <p:cNvPr id="4" name="Slide Number Placeholder 3">
            <a:extLst>
              <a:ext uri="{FF2B5EF4-FFF2-40B4-BE49-F238E27FC236}">
                <a16:creationId xmlns:a16="http://schemas.microsoft.com/office/drawing/2014/main" id="{3017029D-452E-57B4-8FBC-4AEDEE0B8019}"/>
              </a:ext>
            </a:extLst>
          </p:cNvPr>
          <p:cNvSpPr>
            <a:spLocks noGrp="1"/>
          </p:cNvSpPr>
          <p:nvPr>
            <p:ph type="sldNum" sz="quarter" idx="12"/>
          </p:nvPr>
        </p:nvSpPr>
        <p:spPr/>
        <p:txBody>
          <a:bodyPr/>
          <a:lstStyle/>
          <a:p>
            <a:fld id="{43321D51-0D33-47F4-8293-F27514F5326D}" type="slidenum">
              <a:rPr lang="en-IN" smtClean="0"/>
              <a:t>24</a:t>
            </a:fld>
            <a:endParaRPr lang="en-IN"/>
          </a:p>
        </p:txBody>
      </p:sp>
    </p:spTree>
    <p:extLst>
      <p:ext uri="{BB962C8B-B14F-4D97-AF65-F5344CB8AC3E}">
        <p14:creationId xmlns:p14="http://schemas.microsoft.com/office/powerpoint/2010/main" val="2411358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9139B-BFB3-324C-CE80-498755273FBF}"/>
              </a:ext>
            </a:extLst>
          </p:cNvPr>
          <p:cNvSpPr txBox="1">
            <a:spLocks/>
          </p:cNvSpPr>
          <p:nvPr/>
        </p:nvSpPr>
        <p:spPr>
          <a:xfrm>
            <a:off x="0" y="276229"/>
            <a:ext cx="12192000" cy="786766"/>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	References</a:t>
            </a:r>
            <a:endParaRPr lang="en-US" b="1" dirty="0"/>
          </a:p>
        </p:txBody>
      </p:sp>
      <p:sp>
        <p:nvSpPr>
          <p:cNvPr id="9" name="TextBox 8">
            <a:extLst>
              <a:ext uri="{FF2B5EF4-FFF2-40B4-BE49-F238E27FC236}">
                <a16:creationId xmlns:a16="http://schemas.microsoft.com/office/drawing/2014/main" id="{AC3EDA5D-179C-8CB6-B3BA-D683402F967B}"/>
              </a:ext>
            </a:extLst>
          </p:cNvPr>
          <p:cNvSpPr txBox="1"/>
          <p:nvPr/>
        </p:nvSpPr>
        <p:spPr>
          <a:xfrm>
            <a:off x="914400" y="947248"/>
            <a:ext cx="10579261" cy="6101670"/>
          </a:xfrm>
          <a:prstGeom prst="rect">
            <a:avLst/>
          </a:prstGeom>
          <a:noFill/>
        </p:spPr>
        <p:txBody>
          <a:bodyPr wrap="square" rtlCol="0" anchor="ctr">
            <a:spAutoFit/>
          </a:bodyPr>
          <a:lstStyle/>
          <a:p>
            <a:pPr lvl="0" algn="just">
              <a:spcBef>
                <a:spcPts val="1200"/>
              </a:spcBef>
              <a:spcAft>
                <a:spcPts val="250"/>
              </a:spcAft>
              <a:tabLst>
                <a:tab pos="228600" algn="l"/>
                <a:tab pos="457200" algn="l"/>
              </a:tabLst>
            </a:pPr>
            <a:r>
              <a:rPr lang="en-US" sz="1400" dirty="0">
                <a:latin typeface="Times New Roman" panose="02020603050405020304" pitchFamily="18" charset="0"/>
                <a:ea typeface="MS Mincho" panose="02020609040205080304" pitchFamily="49" charset="-128"/>
              </a:rPr>
              <a:t>[1]  </a:t>
            </a:r>
            <a:r>
              <a:rPr lang="en-US" sz="1400" dirty="0" err="1">
                <a:effectLst/>
                <a:latin typeface="Times New Roman" panose="02020603050405020304" pitchFamily="18" charset="0"/>
                <a:ea typeface="MS Mincho" panose="02020609040205080304" pitchFamily="49" charset="-128"/>
              </a:rPr>
              <a:t>Buhalis</a:t>
            </a:r>
            <a:r>
              <a:rPr lang="en-US" sz="1400" dirty="0">
                <a:effectLst/>
                <a:latin typeface="Times New Roman" panose="02020603050405020304" pitchFamily="18" charset="0"/>
                <a:ea typeface="MS Mincho" panose="02020609040205080304" pitchFamily="49" charset="-128"/>
              </a:rPr>
              <a:t>, D., Leung, D., &amp; Lin, M. (2023). Metaverse as a disruptive technology </a:t>
            </a:r>
            <a:r>
              <a:rPr lang="en-US" sz="1400" dirty="0" err="1">
                <a:effectLst/>
                <a:latin typeface="Times New Roman" panose="02020603050405020304" pitchFamily="18" charset="0"/>
                <a:ea typeface="MS Mincho" panose="02020609040205080304" pitchFamily="49" charset="-128"/>
              </a:rPr>
              <a:t>revolutionising</a:t>
            </a:r>
            <a:r>
              <a:rPr lang="en-US" sz="1400" dirty="0">
                <a:effectLst/>
                <a:latin typeface="Times New Roman" panose="02020603050405020304" pitchFamily="18" charset="0"/>
                <a:ea typeface="MS Mincho" panose="02020609040205080304" pitchFamily="49" charset="-128"/>
              </a:rPr>
              <a:t> tourism management and marketing. Tourism Management, 97, 104724.</a:t>
            </a:r>
            <a:endParaRPr lang="en-IN" sz="1400" dirty="0">
              <a:effectLst/>
              <a:latin typeface="Times New Roman" panose="02020603050405020304" pitchFamily="18" charset="0"/>
              <a:ea typeface="MS Mincho" panose="02020609040205080304" pitchFamily="49" charset="-128"/>
            </a:endParaRPr>
          </a:p>
          <a:p>
            <a:pPr lvl="0" algn="just">
              <a:spcBef>
                <a:spcPts val="1200"/>
              </a:spcBef>
              <a:spcAft>
                <a:spcPts val="250"/>
              </a:spcAft>
              <a:tabLst>
                <a:tab pos="228600" algn="l"/>
                <a:tab pos="457200" algn="l"/>
              </a:tabLst>
            </a:pPr>
            <a:r>
              <a:rPr lang="en-US" sz="1400" dirty="0">
                <a:effectLst/>
                <a:latin typeface="Times New Roman" panose="02020603050405020304" pitchFamily="18" charset="0"/>
                <a:ea typeface="MS Mincho" panose="02020609040205080304" pitchFamily="49" charset="-128"/>
              </a:rPr>
              <a:t>[2]  Go, H., &amp; Kang, M. (2023). Meta-tourism for sustainable tourism development: Tourism agenda 2030. Tourism Review, 78(2), 381-394. </a:t>
            </a:r>
            <a:endParaRPr lang="en-IN" sz="1400" dirty="0">
              <a:effectLst/>
              <a:latin typeface="Times New Roman" panose="02020603050405020304" pitchFamily="18" charset="0"/>
              <a:ea typeface="MS Mincho" panose="02020609040205080304" pitchFamily="49" charset="-128"/>
            </a:endParaRPr>
          </a:p>
          <a:p>
            <a:pPr lvl="0" algn="just">
              <a:spcBef>
                <a:spcPts val="1200"/>
              </a:spcBef>
              <a:spcAft>
                <a:spcPts val="250"/>
              </a:spcAft>
              <a:tabLst>
                <a:tab pos="228600" algn="l"/>
                <a:tab pos="457200" algn="l"/>
              </a:tabLst>
            </a:pPr>
            <a:r>
              <a:rPr lang="en-US" sz="1400" dirty="0">
                <a:effectLst/>
                <a:latin typeface="Times New Roman" panose="02020603050405020304" pitchFamily="18" charset="0"/>
                <a:ea typeface="MS Mincho" panose="02020609040205080304" pitchFamily="49" charset="-128"/>
              </a:rPr>
              <a:t>[3]  </a:t>
            </a:r>
            <a:r>
              <a:rPr lang="en-US" sz="1400" dirty="0" err="1">
                <a:effectLst/>
                <a:latin typeface="Times New Roman" panose="02020603050405020304" pitchFamily="18" charset="0"/>
                <a:ea typeface="MS Mincho" panose="02020609040205080304" pitchFamily="49" charset="-128"/>
              </a:rPr>
              <a:t>Gursoy</a:t>
            </a:r>
            <a:r>
              <a:rPr lang="en-US" sz="1400" dirty="0">
                <a:effectLst/>
                <a:latin typeface="Times New Roman" panose="02020603050405020304" pitchFamily="18" charset="0"/>
                <a:ea typeface="MS Mincho" panose="02020609040205080304" pitchFamily="49" charset="-128"/>
              </a:rPr>
              <a:t>, Dogan, Suresh </a:t>
            </a:r>
            <a:r>
              <a:rPr lang="en-US" sz="1400" dirty="0" err="1">
                <a:effectLst/>
                <a:latin typeface="Times New Roman" panose="02020603050405020304" pitchFamily="18" charset="0"/>
                <a:ea typeface="MS Mincho" panose="02020609040205080304" pitchFamily="49" charset="-128"/>
              </a:rPr>
              <a:t>Malodia</a:t>
            </a:r>
            <a:r>
              <a:rPr lang="en-US" sz="1400" dirty="0">
                <a:effectLst/>
                <a:latin typeface="Times New Roman" panose="02020603050405020304" pitchFamily="18" charset="0"/>
                <a:ea typeface="MS Mincho" panose="02020609040205080304" pitchFamily="49" charset="-128"/>
              </a:rPr>
              <a:t>, and Amandeep Dhir. "The metaverse in the hospitality and tourism industry: An overview of current trends and future research directions." Journal of Hospitality Marketing &amp; Management 31, no. 5 (2022): 527-534.</a:t>
            </a:r>
            <a:endParaRPr lang="en-IN" sz="1400" dirty="0">
              <a:effectLst/>
              <a:latin typeface="Times New Roman" panose="02020603050405020304" pitchFamily="18" charset="0"/>
              <a:ea typeface="MS Mincho" panose="02020609040205080304" pitchFamily="49" charset="-128"/>
            </a:endParaRPr>
          </a:p>
          <a:p>
            <a:pPr lvl="0" algn="just">
              <a:spcBef>
                <a:spcPts val="1200"/>
              </a:spcBef>
              <a:spcAft>
                <a:spcPts val="250"/>
              </a:spcAft>
              <a:tabLst>
                <a:tab pos="228600" algn="l"/>
                <a:tab pos="457200" algn="l"/>
              </a:tabLst>
            </a:pPr>
            <a:r>
              <a:rPr lang="en-US" sz="1400" dirty="0">
                <a:effectLst/>
                <a:latin typeface="Times New Roman" panose="02020603050405020304" pitchFamily="18" charset="0"/>
                <a:ea typeface="MS Mincho" panose="02020609040205080304" pitchFamily="49" charset="-128"/>
              </a:rPr>
              <a:t>[4]  Huang, Yan, Yi Joy Li, and </a:t>
            </a:r>
            <a:r>
              <a:rPr lang="en-US" sz="1400" dirty="0" err="1">
                <a:effectLst/>
                <a:latin typeface="Times New Roman" panose="02020603050405020304" pitchFamily="18" charset="0"/>
                <a:ea typeface="MS Mincho" panose="02020609040205080304" pitchFamily="49" charset="-128"/>
              </a:rPr>
              <a:t>Zhipeng</a:t>
            </a:r>
            <a:r>
              <a:rPr lang="en-US" sz="1400" dirty="0">
                <a:effectLst/>
                <a:latin typeface="Times New Roman" panose="02020603050405020304" pitchFamily="18" charset="0"/>
                <a:ea typeface="MS Mincho" panose="02020609040205080304" pitchFamily="49" charset="-128"/>
              </a:rPr>
              <a:t> Cai. "Security and privacy in metaverse: A comprehensive survey." Big Data Mining and Analytics 6, no. 2 (2023): 234-247.</a:t>
            </a:r>
            <a:endParaRPr lang="en-IN" sz="1400" dirty="0">
              <a:effectLst/>
              <a:latin typeface="Times New Roman" panose="02020603050405020304" pitchFamily="18" charset="0"/>
              <a:ea typeface="MS Mincho" panose="02020609040205080304" pitchFamily="49" charset="-128"/>
            </a:endParaRPr>
          </a:p>
          <a:p>
            <a:pPr lvl="0" algn="just">
              <a:spcBef>
                <a:spcPts val="1200"/>
              </a:spcBef>
              <a:spcAft>
                <a:spcPts val="250"/>
              </a:spcAft>
              <a:tabLst>
                <a:tab pos="228600" algn="l"/>
                <a:tab pos="457200" algn="l"/>
              </a:tabLst>
            </a:pPr>
            <a:r>
              <a:rPr lang="en-US" sz="1400" dirty="0">
                <a:effectLst/>
                <a:latin typeface="Times New Roman" panose="02020603050405020304" pitchFamily="18" charset="0"/>
                <a:ea typeface="MS Mincho" panose="02020609040205080304" pitchFamily="49" charset="-128"/>
              </a:rPr>
              <a:t>[5]  </a:t>
            </a:r>
            <a:r>
              <a:rPr lang="en-US" sz="1400" dirty="0" err="1">
                <a:effectLst/>
                <a:latin typeface="Times New Roman" panose="02020603050405020304" pitchFamily="18" charset="0"/>
                <a:ea typeface="MS Mincho" panose="02020609040205080304" pitchFamily="49" charset="-128"/>
              </a:rPr>
              <a:t>Sumardani</a:t>
            </a:r>
            <a:r>
              <a:rPr lang="en-US" sz="1400" dirty="0">
                <a:effectLst/>
                <a:latin typeface="Times New Roman" panose="02020603050405020304" pitchFamily="18" charset="0"/>
                <a:ea typeface="MS Mincho" panose="02020609040205080304" pitchFamily="49" charset="-128"/>
              </a:rPr>
              <a:t>, D., &amp; </a:t>
            </a:r>
            <a:r>
              <a:rPr lang="en-US" sz="1400" dirty="0" err="1">
                <a:effectLst/>
                <a:latin typeface="Times New Roman" panose="02020603050405020304" pitchFamily="18" charset="0"/>
                <a:ea typeface="MS Mincho" panose="02020609040205080304" pitchFamily="49" charset="-128"/>
              </a:rPr>
              <a:t>Sumardani</a:t>
            </a:r>
            <a:r>
              <a:rPr lang="en-US" sz="1400" dirty="0">
                <a:effectLst/>
                <a:latin typeface="Times New Roman" panose="02020603050405020304" pitchFamily="18" charset="0"/>
                <a:ea typeface="MS Mincho" panose="02020609040205080304" pitchFamily="49" charset="-128"/>
              </a:rPr>
              <a:t>, N. I. (2022). How Metaverse—Virtual Reality—Can Facilitate the Emergency Remote Teaching. Indonesia Post-Pandemic Outlook: Social Perspectives, 289. </a:t>
            </a:r>
            <a:endParaRPr lang="en-IN" sz="1400" dirty="0">
              <a:effectLst/>
              <a:latin typeface="Times New Roman" panose="02020603050405020304" pitchFamily="18" charset="0"/>
              <a:ea typeface="MS Mincho" panose="02020609040205080304" pitchFamily="49" charset="-128"/>
            </a:endParaRPr>
          </a:p>
          <a:p>
            <a:pPr lvl="0" algn="just">
              <a:spcBef>
                <a:spcPts val="1200"/>
              </a:spcBef>
              <a:spcAft>
                <a:spcPts val="250"/>
              </a:spcAft>
              <a:tabLst>
                <a:tab pos="228600" algn="l"/>
                <a:tab pos="457200" algn="l"/>
              </a:tabLst>
            </a:pPr>
            <a:r>
              <a:rPr lang="en-US" sz="1400" dirty="0">
                <a:effectLst/>
                <a:latin typeface="Times New Roman" panose="02020603050405020304" pitchFamily="18" charset="0"/>
                <a:ea typeface="MS Mincho" panose="02020609040205080304" pitchFamily="49" charset="-128"/>
              </a:rPr>
              <a:t>[6]  </a:t>
            </a:r>
            <a:r>
              <a:rPr lang="en-US" sz="1400" dirty="0" err="1">
                <a:effectLst/>
                <a:latin typeface="Times New Roman" panose="02020603050405020304" pitchFamily="18" charset="0"/>
                <a:ea typeface="MS Mincho" panose="02020609040205080304" pitchFamily="49" charset="-128"/>
              </a:rPr>
              <a:t>Joye</a:t>
            </a:r>
            <a:r>
              <a:rPr lang="en-US" sz="1400" dirty="0">
                <a:effectLst/>
                <a:latin typeface="Times New Roman" panose="02020603050405020304" pitchFamily="18" charset="0"/>
                <a:ea typeface="MS Mincho" panose="02020609040205080304" pitchFamily="49" charset="-128"/>
              </a:rPr>
              <a:t>, S., &amp; </a:t>
            </a:r>
            <a:r>
              <a:rPr lang="en-US" sz="1400" dirty="0" err="1">
                <a:effectLst/>
                <a:latin typeface="Times New Roman" panose="02020603050405020304" pitchFamily="18" charset="0"/>
                <a:ea typeface="MS Mincho" panose="02020609040205080304" pitchFamily="49" charset="-128"/>
              </a:rPr>
              <a:t>Joye</a:t>
            </a:r>
            <a:r>
              <a:rPr lang="en-US" sz="1400" dirty="0">
                <a:effectLst/>
                <a:latin typeface="Times New Roman" panose="02020603050405020304" pitchFamily="18" charset="0"/>
                <a:ea typeface="MS Mincho" panose="02020609040205080304" pitchFamily="49" charset="-128"/>
              </a:rPr>
              <a:t>, S. R. (2016). Ethical Implications Of a Virtual Reality Metaverse: The Pribram-Bohm Hypothesis.</a:t>
            </a:r>
            <a:endParaRPr lang="en-IN" sz="1400" dirty="0">
              <a:effectLst/>
              <a:latin typeface="Times New Roman" panose="02020603050405020304" pitchFamily="18" charset="0"/>
              <a:ea typeface="MS Mincho" panose="02020609040205080304" pitchFamily="49" charset="-128"/>
            </a:endParaRPr>
          </a:p>
          <a:p>
            <a:pPr lvl="0" algn="just">
              <a:spcBef>
                <a:spcPts val="1200"/>
              </a:spcBef>
              <a:spcAft>
                <a:spcPts val="250"/>
              </a:spcAft>
              <a:tabLst>
                <a:tab pos="228600" algn="l"/>
                <a:tab pos="457200" algn="l"/>
              </a:tabLst>
            </a:pPr>
            <a:r>
              <a:rPr lang="en-US" sz="1400" dirty="0">
                <a:effectLst/>
                <a:latin typeface="Times New Roman" panose="02020603050405020304" pitchFamily="18" charset="0"/>
                <a:ea typeface="MS Mincho" panose="02020609040205080304" pitchFamily="49" charset="-128"/>
              </a:rPr>
              <a:t>[7]  Gupta, Ankur, Habib Ullah Khan, Shah Nazir, Muhammad Shafiq, and Mohammad </a:t>
            </a:r>
            <a:r>
              <a:rPr lang="en-US" sz="1400" dirty="0" err="1">
                <a:effectLst/>
                <a:latin typeface="Times New Roman" panose="02020603050405020304" pitchFamily="18" charset="0"/>
                <a:ea typeface="MS Mincho" panose="02020609040205080304" pitchFamily="49" charset="-128"/>
              </a:rPr>
              <a:t>Shabaz</a:t>
            </a:r>
            <a:r>
              <a:rPr lang="en-US" sz="1400" dirty="0">
                <a:effectLst/>
                <a:latin typeface="Times New Roman" panose="02020603050405020304" pitchFamily="18" charset="0"/>
                <a:ea typeface="MS Mincho" panose="02020609040205080304" pitchFamily="49" charset="-128"/>
              </a:rPr>
              <a:t>. "Metaverse Security: Issues, Challenges and a Viable ZTA Model." Electronics 12, no. 2 (2023): 391.</a:t>
            </a:r>
          </a:p>
          <a:p>
            <a:pPr lvl="0" algn="just">
              <a:spcBef>
                <a:spcPts val="1200"/>
              </a:spcBef>
              <a:spcAft>
                <a:spcPts val="250"/>
              </a:spcAft>
              <a:tabLst>
                <a:tab pos="228600" algn="l"/>
                <a:tab pos="457200" algn="l"/>
              </a:tabLst>
            </a:pPr>
            <a:r>
              <a:rPr lang="en-US" sz="1400" dirty="0">
                <a:latin typeface="Times New Roman" panose="02020603050405020304" pitchFamily="18" charset="0"/>
                <a:ea typeface="MS Mincho" panose="02020609040205080304" pitchFamily="49" charset="-128"/>
              </a:rPr>
              <a:t>[8]  </a:t>
            </a:r>
            <a:r>
              <a:rPr lang="en-US" sz="1400" dirty="0" err="1">
                <a:latin typeface="Times New Roman" panose="02020603050405020304" pitchFamily="18" charset="0"/>
                <a:ea typeface="MS Mincho" panose="02020609040205080304" pitchFamily="49" charset="-128"/>
              </a:rPr>
              <a:t>Volchek</a:t>
            </a:r>
            <a:r>
              <a:rPr lang="en-US" sz="1400" dirty="0">
                <a:latin typeface="Times New Roman" panose="02020603050405020304" pitchFamily="18" charset="0"/>
                <a:ea typeface="MS Mincho" panose="02020609040205080304" pitchFamily="49" charset="-128"/>
              </a:rPr>
              <a:t>, K., &amp; </a:t>
            </a:r>
            <a:r>
              <a:rPr lang="en-US" sz="1400" dirty="0" err="1">
                <a:latin typeface="Times New Roman" panose="02020603050405020304" pitchFamily="18" charset="0"/>
                <a:ea typeface="MS Mincho" panose="02020609040205080304" pitchFamily="49" charset="-128"/>
              </a:rPr>
              <a:t>Brysch</a:t>
            </a:r>
            <a:r>
              <a:rPr lang="en-US" sz="1400" dirty="0">
                <a:latin typeface="Times New Roman" panose="02020603050405020304" pitchFamily="18" charset="0"/>
                <a:ea typeface="MS Mincho" panose="02020609040205080304" pitchFamily="49" charset="-128"/>
              </a:rPr>
              <a:t>, A. (2023, January). Metaverse and tourism: From a new niche to a transformation. In ENTER22 e-Tourism Conference (pp. 300-311). Cham: Springer Nature Switzerland.</a:t>
            </a:r>
          </a:p>
          <a:p>
            <a:pPr lvl="0" algn="just">
              <a:spcBef>
                <a:spcPts val="1200"/>
              </a:spcBef>
              <a:spcAft>
                <a:spcPts val="250"/>
              </a:spcAft>
              <a:tabLst>
                <a:tab pos="228600" algn="l"/>
                <a:tab pos="457200" algn="l"/>
              </a:tabLst>
            </a:pPr>
            <a:r>
              <a:rPr lang="en-US" sz="1400" dirty="0">
                <a:effectLst/>
                <a:latin typeface="Times New Roman" panose="02020603050405020304" pitchFamily="18" charset="0"/>
                <a:ea typeface="MS Mincho" panose="02020609040205080304" pitchFamily="49" charset="-128"/>
              </a:rPr>
              <a:t>[9]  Ioannidis, S., &amp; </a:t>
            </a:r>
            <a:r>
              <a:rPr lang="en-US" sz="1400" dirty="0" err="1">
                <a:effectLst/>
                <a:latin typeface="Times New Roman" panose="02020603050405020304" pitchFamily="18" charset="0"/>
                <a:ea typeface="MS Mincho" panose="02020609040205080304" pitchFamily="49" charset="-128"/>
              </a:rPr>
              <a:t>Kontis</a:t>
            </a:r>
            <a:r>
              <a:rPr lang="en-US" sz="1400" dirty="0">
                <a:effectLst/>
                <a:latin typeface="Times New Roman" panose="02020603050405020304" pitchFamily="18" charset="0"/>
                <a:ea typeface="MS Mincho" panose="02020609040205080304" pitchFamily="49" charset="-128"/>
              </a:rPr>
              <a:t>, A. P. (2023). Metaverse for tourists and tourism destinations. Information Technology &amp; Tourism, 1-24.</a:t>
            </a:r>
          </a:p>
          <a:p>
            <a:pPr lvl="0" algn="just">
              <a:spcBef>
                <a:spcPts val="1200"/>
              </a:spcBef>
              <a:spcAft>
                <a:spcPts val="250"/>
              </a:spcAft>
              <a:tabLst>
                <a:tab pos="228600" algn="l"/>
                <a:tab pos="457200" algn="l"/>
              </a:tabLst>
            </a:pPr>
            <a:r>
              <a:rPr lang="en-US" sz="1400" dirty="0">
                <a:effectLst/>
                <a:latin typeface="Times New Roman" panose="02020603050405020304" pitchFamily="18" charset="0"/>
                <a:ea typeface="MS Mincho" panose="02020609040205080304" pitchFamily="49" charset="-128"/>
              </a:rPr>
              <a:t>[10]  Huang, X. T., Wang, J., Wang, Z., Wang, L., &amp; Cheng, C. (2023). Experimental study on the influence of virtual tourism spatial situation on the tourists’ temperature comfort in the context of metaverse. Frontiers in Psychology, 13, 1062876.</a:t>
            </a:r>
          </a:p>
          <a:p>
            <a:pPr lvl="0" algn="just">
              <a:spcBef>
                <a:spcPts val="1200"/>
              </a:spcBef>
              <a:spcAft>
                <a:spcPts val="250"/>
              </a:spcAft>
              <a:tabLst>
                <a:tab pos="228600" algn="l"/>
                <a:tab pos="457200" algn="l"/>
              </a:tabLst>
            </a:pPr>
            <a:endParaRPr lang="en-IN" sz="1400" dirty="0">
              <a:effectLst/>
              <a:latin typeface="Times New Roman" panose="02020603050405020304" pitchFamily="18" charset="0"/>
              <a:ea typeface="MS Mincho" panose="02020609040205080304" pitchFamily="49" charset="-128"/>
            </a:endParaRPr>
          </a:p>
          <a:p>
            <a:endParaRPr lang="en-IN" sz="1100" dirty="0">
              <a:latin typeface="Times New Roman" panose="02020603050405020304" pitchFamily="18" charset="0"/>
              <a:cs typeface="Times New Roman" panose="02020603050405020304" pitchFamily="18" charset="0"/>
            </a:endParaRPr>
          </a:p>
        </p:txBody>
      </p:sp>
      <p:pic>
        <p:nvPicPr>
          <p:cNvPr id="4098" name="Picture 2" descr="Reference Meticulous Lineal Color icon">
            <a:extLst>
              <a:ext uri="{FF2B5EF4-FFF2-40B4-BE49-F238E27FC236}">
                <a16:creationId xmlns:a16="http://schemas.microsoft.com/office/drawing/2014/main" id="{9CD547C4-0B92-9BAB-30B9-F78609775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061" y="276228"/>
            <a:ext cx="786767" cy="786767"/>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A17185EB-1451-F7C8-AFD1-07292152A258}"/>
              </a:ext>
            </a:extLst>
          </p:cNvPr>
          <p:cNvSpPr>
            <a:spLocks noGrp="1"/>
          </p:cNvSpPr>
          <p:nvPr>
            <p:ph type="ftr" sz="quarter" idx="11"/>
          </p:nvPr>
        </p:nvSpPr>
        <p:spPr/>
        <p:txBody>
          <a:bodyPr/>
          <a:lstStyle/>
          <a:p>
            <a:r>
              <a:rPr lang="en-IN"/>
              <a:t>Meta-Tourism</a:t>
            </a:r>
          </a:p>
        </p:txBody>
      </p:sp>
      <p:sp>
        <p:nvSpPr>
          <p:cNvPr id="4" name="Slide Number Placeholder 3">
            <a:extLst>
              <a:ext uri="{FF2B5EF4-FFF2-40B4-BE49-F238E27FC236}">
                <a16:creationId xmlns:a16="http://schemas.microsoft.com/office/drawing/2014/main" id="{82E0300D-BEAF-98BA-FDA3-BA3D50EAA4E8}"/>
              </a:ext>
            </a:extLst>
          </p:cNvPr>
          <p:cNvSpPr>
            <a:spLocks noGrp="1"/>
          </p:cNvSpPr>
          <p:nvPr>
            <p:ph type="sldNum" sz="quarter" idx="12"/>
          </p:nvPr>
        </p:nvSpPr>
        <p:spPr/>
        <p:txBody>
          <a:bodyPr/>
          <a:lstStyle/>
          <a:p>
            <a:fld id="{43321D51-0D33-47F4-8293-F27514F5326D}" type="slidenum">
              <a:rPr lang="en-IN" smtClean="0"/>
              <a:t>25</a:t>
            </a:fld>
            <a:endParaRPr lang="en-IN"/>
          </a:p>
        </p:txBody>
      </p:sp>
    </p:spTree>
    <p:extLst>
      <p:ext uri="{BB962C8B-B14F-4D97-AF65-F5344CB8AC3E}">
        <p14:creationId xmlns:p14="http://schemas.microsoft.com/office/powerpoint/2010/main" val="3170413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D61A4F-DA7D-CB22-B025-68AE137E96B9}"/>
              </a:ext>
            </a:extLst>
          </p:cNvPr>
          <p:cNvSpPr txBox="1"/>
          <p:nvPr/>
        </p:nvSpPr>
        <p:spPr>
          <a:xfrm>
            <a:off x="4285318" y="2967335"/>
            <a:ext cx="3619018" cy="923330"/>
          </a:xfrm>
          <a:prstGeom prst="rect">
            <a:avLst/>
          </a:prstGeom>
          <a:noFill/>
        </p:spPr>
        <p:txBody>
          <a:bodyPr wrap="square">
            <a:spAutoFit/>
          </a:bodyPr>
          <a:lstStyle/>
          <a:p>
            <a:pPr algn="ctr"/>
            <a:r>
              <a:rPr lang="en-US"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Thank You</a:t>
            </a:r>
            <a:endParaRPr lang="en-IN"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2450472B-4F8D-8004-655C-55A2F925241A}"/>
              </a:ext>
            </a:extLst>
          </p:cNvPr>
          <p:cNvSpPr>
            <a:spLocks noGrp="1"/>
          </p:cNvSpPr>
          <p:nvPr>
            <p:ph type="ftr" sz="quarter" idx="11"/>
          </p:nvPr>
        </p:nvSpPr>
        <p:spPr/>
        <p:txBody>
          <a:bodyPr/>
          <a:lstStyle/>
          <a:p>
            <a:r>
              <a:rPr lang="en-IN"/>
              <a:t>Meta-Tourism</a:t>
            </a:r>
          </a:p>
        </p:txBody>
      </p:sp>
      <p:sp>
        <p:nvSpPr>
          <p:cNvPr id="4" name="Slide Number Placeholder 3">
            <a:extLst>
              <a:ext uri="{FF2B5EF4-FFF2-40B4-BE49-F238E27FC236}">
                <a16:creationId xmlns:a16="http://schemas.microsoft.com/office/drawing/2014/main" id="{5C224CE3-8AB5-E05B-C4CA-2EFECD08EF1B}"/>
              </a:ext>
            </a:extLst>
          </p:cNvPr>
          <p:cNvSpPr>
            <a:spLocks noGrp="1"/>
          </p:cNvSpPr>
          <p:nvPr>
            <p:ph type="sldNum" sz="quarter" idx="12"/>
          </p:nvPr>
        </p:nvSpPr>
        <p:spPr/>
        <p:txBody>
          <a:bodyPr/>
          <a:lstStyle/>
          <a:p>
            <a:fld id="{43321D51-0D33-47F4-8293-F27514F5326D}" type="slidenum">
              <a:rPr lang="en-IN" smtClean="0"/>
              <a:t>26</a:t>
            </a:fld>
            <a:endParaRPr lang="en-IN"/>
          </a:p>
        </p:txBody>
      </p:sp>
      <p:pic>
        <p:nvPicPr>
          <p:cNvPr id="10242" name="Picture 2" descr="🙏 - Wiktionary, the free dictionary">
            <a:extLst>
              <a:ext uri="{FF2B5EF4-FFF2-40B4-BE49-F238E27FC236}">
                <a16:creationId xmlns:a16="http://schemas.microsoft.com/office/drawing/2014/main" id="{8B1871C8-22B7-76EB-9542-8F0CB6ED8A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4336" y="2720050"/>
            <a:ext cx="1031719" cy="10317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 - Wiktionary, the free dictionary">
            <a:extLst>
              <a:ext uri="{FF2B5EF4-FFF2-40B4-BE49-F238E27FC236}">
                <a16:creationId xmlns:a16="http://schemas.microsoft.com/office/drawing/2014/main" id="{3EFF8B16-8AC3-040B-3A8E-F939B20807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3599" y="2720049"/>
            <a:ext cx="1031719" cy="1031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1850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689</TotalTime>
  <Words>3350</Words>
  <Application>Microsoft Office PowerPoint</Application>
  <PresentationFormat>Widescreen</PresentationFormat>
  <Paragraphs>265</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Bahnschrift</vt:lpstr>
      <vt:lpstr>Calibri</vt:lpstr>
      <vt:lpstr>Calibri Light</vt:lpstr>
      <vt:lpstr>Courier New</vt:lpstr>
      <vt:lpstr>Symbol</vt:lpstr>
      <vt:lpstr>Times New Roman</vt:lpstr>
      <vt:lpstr>TimesNewRomanPS-BoldMT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Aditya Patil</dc:creator>
  <cp:lastModifiedBy>Aditya Patil</cp:lastModifiedBy>
  <cp:revision>9</cp:revision>
  <dcterms:created xsi:type="dcterms:W3CDTF">2023-11-20T18:43:29Z</dcterms:created>
  <dcterms:modified xsi:type="dcterms:W3CDTF">2023-11-21T18:57:03Z</dcterms:modified>
</cp:coreProperties>
</file>